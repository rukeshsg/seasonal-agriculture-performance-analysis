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50" r:id="rId16"/>
    <p:sldId id="349" r:id="rId17"/>
    <p:sldId id="341" r:id="rId18"/>
    <p:sldId id="342" r:id="rId19"/>
    <p:sldId id="34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47" d="100"/>
          <a:sy n="47" d="100"/>
        </p:scale>
        <p:origin x="53" y="97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4002293"/>
            <a:ext cx="10099403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200" dirty="0">
                <a:solidFill>
                  <a:schemeClr val="tx1"/>
                </a:solidFill>
              </a:rPr>
              <a:t>RUKESH S G</a:t>
            </a:r>
          </a:p>
          <a:p>
            <a:r>
              <a:rPr lang="en-IN" sz="2200" b="0" dirty="0">
                <a:solidFill>
                  <a:schemeClr val="tx1"/>
                </a:solidFill>
              </a:rPr>
              <a:t>Vel Tech High Tech </a:t>
            </a:r>
            <a:r>
              <a:rPr lang="en-IN" sz="2200" b="0" dirty="0" err="1">
                <a:solidFill>
                  <a:schemeClr val="tx1"/>
                </a:solidFill>
              </a:rPr>
              <a:t>Dr.Rangarajan</a:t>
            </a:r>
            <a:r>
              <a:rPr lang="en-IN" sz="2200" b="0" dirty="0">
                <a:solidFill>
                  <a:schemeClr val="tx1"/>
                </a:solidFill>
              </a:rPr>
              <a:t> </a:t>
            </a:r>
            <a:r>
              <a:rPr lang="en-IN" sz="2200" b="0" dirty="0" err="1">
                <a:solidFill>
                  <a:schemeClr val="tx1"/>
                </a:solidFill>
              </a:rPr>
              <a:t>Dr.Sakunthala</a:t>
            </a:r>
            <a:r>
              <a:rPr lang="en-IN" sz="2200" b="0" dirty="0">
                <a:solidFill>
                  <a:schemeClr val="tx1"/>
                </a:solidFill>
              </a:rPr>
              <a:t> Engineering College (An Autonomous Institution)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8204379" cy="941806"/>
          </a:xfrm>
        </p:spPr>
        <p:txBody>
          <a:bodyPr>
            <a:normAutofit/>
          </a:bodyPr>
          <a:lstStyle/>
          <a:p>
            <a:r>
              <a:rPr lang="en-IN" sz="32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5941026"/>
            <a:ext cx="608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</a:t>
            </a:r>
            <a:r>
              <a:rPr lang="en-IN" b="1" dirty="0"/>
              <a:t> STU6a69822e048c31785299502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747156"/>
            <a:ext cx="7883212" cy="472476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IN" sz="2800" b="1" dirty="0"/>
              <a:t>Agricultural performance changes across Kharif, Rabi, and Zaid seasons due to differences in rainfall, temperature, humidity, irrigation, farming inputs, costs, and market prices.</a:t>
            </a:r>
            <a:endParaRPr lang="en-IN" sz="2800" dirty="0"/>
          </a:p>
          <a:p>
            <a:pPr marL="0" indent="0">
              <a:buNone/>
            </a:pPr>
            <a:r>
              <a:rPr lang="en-IN" sz="2800" dirty="0"/>
              <a:t>The raw farm data does not clearly show how these factors affect:</a:t>
            </a:r>
          </a:p>
          <a:p>
            <a:pPr lvl="0"/>
            <a:r>
              <a:rPr lang="en-IN" sz="2800" dirty="0"/>
              <a:t>Crop yield and production </a:t>
            </a:r>
          </a:p>
          <a:p>
            <a:pPr lvl="0"/>
            <a:r>
              <a:rPr lang="en-IN" sz="2800" dirty="0"/>
              <a:t>Resource and irrigation efficiency </a:t>
            </a:r>
          </a:p>
          <a:p>
            <a:pPr lvl="0"/>
            <a:r>
              <a:rPr lang="en-IN" sz="2800" dirty="0"/>
              <a:t>Farm profitability </a:t>
            </a:r>
          </a:p>
          <a:p>
            <a:pPr lvl="0"/>
            <a:r>
              <a:rPr lang="en-IN" sz="2800" dirty="0"/>
              <a:t>Pest and disease risk </a:t>
            </a:r>
          </a:p>
          <a:p>
            <a:pPr lvl="0"/>
            <a:r>
              <a:rPr lang="en-IN" sz="2800" dirty="0"/>
              <a:t>Suitable crop–season combinations </a:t>
            </a:r>
          </a:p>
          <a:p>
            <a:pPr marL="0" indent="0">
              <a:buNone/>
            </a:pPr>
            <a:r>
              <a:rPr lang="en-IN" sz="2800" b="1" dirty="0"/>
              <a:t>Problem:</a:t>
            </a:r>
            <a:br>
              <a:rPr lang="en-IN" sz="2800" dirty="0"/>
            </a:br>
            <a:r>
              <a:rPr lang="en-IN" sz="2800" dirty="0"/>
              <a:t>	</a:t>
            </a:r>
            <a:r>
              <a:rPr lang="en-IN" sz="2800" dirty="0" err="1"/>
              <a:t>Analyze</a:t>
            </a:r>
            <a:r>
              <a:rPr lang="en-IN" sz="2800" dirty="0"/>
              <a:t> the agricultural data to identify seasonal patterns and understand how environmental conditions, farming practices, and farm size influence productivity and profitability. 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C243A3-D5A3-FFA6-4FFD-DED43F123318}"/>
              </a:ext>
            </a:extLst>
          </p:cNvPr>
          <p:cNvSpPr txBox="1"/>
          <p:nvPr/>
        </p:nvSpPr>
        <p:spPr>
          <a:xfrm>
            <a:off x="675957" y="2008414"/>
            <a:ext cx="832108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Seasonal Agriculture Performance Analysis</a:t>
            </a:r>
            <a:r>
              <a:rPr lang="en-IN" sz="2000" dirty="0"/>
              <a:t> is a data analytics project that studies how agricultural performance changes across the </a:t>
            </a:r>
            <a:r>
              <a:rPr lang="en-IN" sz="2000" b="1" dirty="0"/>
              <a:t>Kharif, Rabi, and Zaid</a:t>
            </a:r>
            <a:r>
              <a:rPr lang="en-IN" sz="2000" dirty="0"/>
              <a:t> seasons.</a:t>
            </a:r>
          </a:p>
          <a:p>
            <a:r>
              <a:rPr lang="en-IN" sz="2000" dirty="0"/>
              <a:t>The project uses </a:t>
            </a:r>
            <a:r>
              <a:rPr lang="en-IN" sz="2000" b="1" dirty="0"/>
              <a:t>4,000 farm records with 28 variables</a:t>
            </a:r>
            <a:r>
              <a:rPr lang="en-IN" sz="2000" dirty="0"/>
              <a:t> covering: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/>
              <a:t>Crop and seasonal information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/>
              <a:t>Weather and soil conditions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/>
              <a:t>Irrigation and farming inputs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/>
              <a:t>Production and yield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/>
              <a:t>Cost, revenue, and profit </a:t>
            </a:r>
          </a:p>
          <a:p>
            <a:r>
              <a:rPr lang="en-IN" sz="2000" dirty="0"/>
              <a:t>Using Python-based data analysis and visualizations, the project identifies </a:t>
            </a:r>
            <a:r>
              <a:rPr lang="en-IN" sz="2000" b="1" dirty="0"/>
              <a:t>seasonal performance patterns, productivity factors, resource efficiency, and profitability differences</a:t>
            </a:r>
            <a:r>
              <a:rPr lang="en-IN" sz="2000" dirty="0"/>
              <a:t> to support better agricultural planning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737598"/>
            <a:ext cx="8406312" cy="4243785"/>
          </a:xfrm>
        </p:spPr>
        <p:txBody>
          <a:bodyPr>
            <a:noAutofit/>
          </a:bodyPr>
          <a:lstStyle/>
          <a:p>
            <a:pPr lvl="0"/>
            <a:r>
              <a:rPr lang="en-IN" sz="1800" b="1" dirty="0"/>
              <a:t>Farmers</a:t>
            </a:r>
            <a:r>
              <a:rPr lang="en-IN" sz="1800" dirty="0"/>
              <a:t> – To compare crop performance, seasonal yield, irrigation efficiency, and profitability. </a:t>
            </a:r>
          </a:p>
          <a:p>
            <a:pPr lvl="0"/>
            <a:r>
              <a:rPr lang="en-IN" sz="1800" b="1" dirty="0"/>
              <a:t>Agricultural Planners</a:t>
            </a:r>
            <a:r>
              <a:rPr lang="en-IN" sz="1800" dirty="0"/>
              <a:t> – To understand seasonal trends and support crop planning decisions. </a:t>
            </a:r>
          </a:p>
          <a:p>
            <a:pPr lvl="0"/>
            <a:r>
              <a:rPr lang="en-IN" sz="1800" b="1" dirty="0"/>
              <a:t>Agriculture Departments</a:t>
            </a:r>
            <a:r>
              <a:rPr lang="en-IN" sz="1800" dirty="0"/>
              <a:t> – To identify seasonal risks and improve resource allocation. </a:t>
            </a:r>
          </a:p>
          <a:p>
            <a:pPr lvl="0"/>
            <a:r>
              <a:rPr lang="en-IN" sz="1800" b="1" dirty="0"/>
              <a:t>Agribusiness &amp; Farm Managers</a:t>
            </a:r>
            <a:r>
              <a:rPr lang="en-IN" sz="1800" dirty="0"/>
              <a:t> – To evaluate production costs, returns, and suitable crop-season combinations. </a:t>
            </a:r>
          </a:p>
          <a:p>
            <a:pPr lvl="0"/>
            <a:r>
              <a:rPr lang="en-IN" sz="1800" b="1" dirty="0"/>
              <a:t>Researchers &amp; Analysts</a:t>
            </a:r>
            <a:r>
              <a:rPr lang="en-IN" sz="1800" dirty="0"/>
              <a:t> – To study relationships between environmental factors and agricultural performance. </a:t>
            </a:r>
          </a:p>
          <a:p>
            <a:pPr marL="0" indent="0">
              <a:buNone/>
            </a:pPr>
            <a:br>
              <a:rPr lang="en-IN" sz="1800" dirty="0"/>
            </a:br>
            <a:r>
              <a:rPr lang="en-IN" sz="1800" i="1" dirty="0"/>
              <a:t>The analysis helps different agricultural stakeholders make better decisions using farm-level data.</a:t>
            </a:r>
            <a:endParaRPr lang="en-IN" sz="1800" dirty="0"/>
          </a:p>
          <a:p>
            <a:pPr algn="just"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2149" y="1526177"/>
            <a:ext cx="9027702" cy="5243448"/>
          </a:xfrm>
        </p:spPr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Programming Language</a:t>
            </a:r>
            <a:endParaRPr lang="en-IN" dirty="0"/>
          </a:p>
          <a:p>
            <a:pPr lvl="0"/>
            <a:r>
              <a:rPr lang="en-IN" dirty="0"/>
              <a:t>Python </a:t>
            </a:r>
          </a:p>
          <a:p>
            <a:pPr marL="0" indent="0">
              <a:buNone/>
            </a:pPr>
            <a:r>
              <a:rPr lang="en-IN" b="1" dirty="0"/>
              <a:t>Libraries</a:t>
            </a:r>
            <a:endParaRPr lang="en-IN" dirty="0"/>
          </a:p>
          <a:p>
            <a:pPr lvl="0"/>
            <a:r>
              <a:rPr lang="en-IN" dirty="0"/>
              <a:t>Pandas – Data handling and analysis </a:t>
            </a:r>
          </a:p>
          <a:p>
            <a:pPr lvl="0"/>
            <a:r>
              <a:rPr lang="en-IN" dirty="0"/>
              <a:t>NumPy – Numerical calculations </a:t>
            </a:r>
          </a:p>
          <a:p>
            <a:pPr lvl="0"/>
            <a:r>
              <a:rPr lang="en-IN" dirty="0"/>
              <a:t>Matplotlib – Data visualization </a:t>
            </a:r>
          </a:p>
          <a:p>
            <a:pPr lvl="0"/>
            <a:r>
              <a:rPr lang="en-IN" dirty="0"/>
              <a:t>Seaborn – Statistical visualizations </a:t>
            </a:r>
          </a:p>
          <a:p>
            <a:pPr marL="0" indent="0">
              <a:buNone/>
            </a:pPr>
            <a:r>
              <a:rPr lang="en-IN" b="1" dirty="0"/>
              <a:t>Development Environment</a:t>
            </a:r>
            <a:endParaRPr lang="en-IN" dirty="0"/>
          </a:p>
          <a:p>
            <a:pPr lvl="0"/>
            <a:r>
              <a:rPr lang="en-IN" dirty="0"/>
              <a:t>Jupyter Notebook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Techniques Used</a:t>
            </a:r>
            <a:endParaRPr lang="en-IN" dirty="0"/>
          </a:p>
          <a:p>
            <a:pPr lvl="0"/>
            <a:r>
              <a:rPr lang="en-IN" dirty="0"/>
              <a:t>Data Cleaning </a:t>
            </a:r>
          </a:p>
          <a:p>
            <a:pPr lvl="0"/>
            <a:r>
              <a:rPr lang="en-IN" dirty="0"/>
              <a:t>Exploratory Data Analysis (EDA) </a:t>
            </a:r>
          </a:p>
          <a:p>
            <a:pPr lvl="0"/>
            <a:r>
              <a:rPr lang="en-IN" dirty="0"/>
              <a:t>Statistical Analysis </a:t>
            </a:r>
          </a:p>
          <a:p>
            <a:pPr lvl="0"/>
            <a:r>
              <a:rPr lang="en-IN" dirty="0"/>
              <a:t>Correlation Analysis </a:t>
            </a:r>
          </a:p>
          <a:p>
            <a:pPr lvl="0"/>
            <a:r>
              <a:rPr lang="en-IN" dirty="0"/>
              <a:t>Data Visualization </a:t>
            </a:r>
          </a:p>
          <a:p>
            <a:pPr lvl="0"/>
            <a:r>
              <a:rPr lang="en-IN" dirty="0"/>
              <a:t>Seasonal Comparison </a:t>
            </a:r>
          </a:p>
          <a:p>
            <a:pPr lvl="0"/>
            <a:r>
              <a:rPr lang="en-IN" dirty="0" err="1"/>
              <a:t>AgriScore</a:t>
            </a:r>
            <a:r>
              <a:rPr lang="en-IN" dirty="0"/>
              <a:t> Crop Suitability Analysis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6171EA-9561-F591-E1B6-6D208C233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862" y="1275371"/>
            <a:ext cx="6783156" cy="4813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C94894-80DD-0240-FFD0-C2EB367DDF87}"/>
              </a:ext>
            </a:extLst>
          </p:cNvPr>
          <p:cNvSpPr txBox="1"/>
          <p:nvPr/>
        </p:nvSpPr>
        <p:spPr>
          <a:xfrm>
            <a:off x="401562" y="1288128"/>
            <a:ext cx="4686300" cy="545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Dataset Distribution: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Analyzed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4,000 farm records — Kharif represents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44.5%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(1,779 farms), Rabi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40.7%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(1,627 farms), and Zaid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14.8%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(594 farms).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Crop Diversity: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Rice (690) and Wheat (614) represent the largest staple holdings, while Sugarcane and Chilli represent high-value cash crops.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Baseline Metrics: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Overall mean agricultural yield is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5.22 t/ha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, mean rainfall is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600.9 mm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, and mean farm profit is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₹1.03 Lakhs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</a:t>
            </a:r>
            <a:endParaRPr lang="en-IN" sz="976" b="0" i="0" dirty="0">
              <a:solidFill>
                <a:srgbClr val="CCCCCC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617" y="1428171"/>
            <a:ext cx="4816929" cy="4890799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Aptos" panose="020B0004020202020204" pitchFamily="34" charset="0"/>
              </a:rPr>
              <a:t>Correlation Matrix of Numerical Variables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Yield and Production:</a:t>
            </a:r>
            <a:r>
              <a:rPr lang="en-IN" dirty="0">
                <a:latin typeface="Aptos" panose="020B0004020202020204" pitchFamily="34" charset="0"/>
              </a:rPr>
              <a:t> Strong positive correlation (</a:t>
            </a:r>
            <a:r>
              <a:rPr lang="en-IN" b="1" dirty="0">
                <a:latin typeface="Aptos" panose="020B0004020202020204" pitchFamily="34" charset="0"/>
              </a:rPr>
              <a:t>r = 0.88</a:t>
            </a:r>
            <a:r>
              <a:rPr lang="en-IN" dirty="0">
                <a:latin typeface="Aptos" panose="020B0004020202020204" pitchFamily="34" charset="0"/>
              </a:rPr>
              <a:t>). 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Revenue and Profit:</a:t>
            </a:r>
            <a:r>
              <a:rPr lang="en-IN" dirty="0">
                <a:latin typeface="Aptos" panose="020B0004020202020204" pitchFamily="34" charset="0"/>
              </a:rPr>
              <a:t> Strong positive correlation (</a:t>
            </a:r>
            <a:r>
              <a:rPr lang="en-IN" b="1" dirty="0">
                <a:latin typeface="Aptos" panose="020B0004020202020204" pitchFamily="34" charset="0"/>
              </a:rPr>
              <a:t>r = 0.89</a:t>
            </a:r>
            <a:r>
              <a:rPr lang="en-IN" dirty="0">
                <a:latin typeface="Aptos" panose="020B0004020202020204" pitchFamily="34" charset="0"/>
              </a:rPr>
              <a:t>). 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Farm Area and Total Cost:</a:t>
            </a:r>
            <a:r>
              <a:rPr lang="en-IN" dirty="0">
                <a:latin typeface="Aptos" panose="020B0004020202020204" pitchFamily="34" charset="0"/>
              </a:rPr>
              <a:t> Very strong positive correlation (</a:t>
            </a:r>
            <a:r>
              <a:rPr lang="en-IN" b="1" dirty="0">
                <a:latin typeface="Aptos" panose="020B0004020202020204" pitchFamily="34" charset="0"/>
              </a:rPr>
              <a:t>r = 0.96</a:t>
            </a:r>
            <a:r>
              <a:rPr lang="en-IN" dirty="0">
                <a:latin typeface="Aptos" panose="020B0004020202020204" pitchFamily="34" charset="0"/>
              </a:rPr>
              <a:t>). 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Rainfall and Disease/Pest Risk:</a:t>
            </a:r>
            <a:r>
              <a:rPr lang="en-IN" dirty="0">
                <a:latin typeface="Aptos" panose="020B0004020202020204" pitchFamily="34" charset="0"/>
              </a:rPr>
              <a:t> Moderate positive correlation (</a:t>
            </a:r>
            <a:r>
              <a:rPr lang="en-IN" b="1" dirty="0">
                <a:latin typeface="Aptos" panose="020B0004020202020204" pitchFamily="34" charset="0"/>
              </a:rPr>
              <a:t>r = 0.62</a:t>
            </a:r>
            <a:r>
              <a:rPr lang="en-IN" dirty="0">
                <a:latin typeface="Aptos" panose="020B0004020202020204" pitchFamily="34" charset="0"/>
              </a:rPr>
              <a:t>). 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Humidity and Disease/Pest Risk:</a:t>
            </a:r>
            <a:r>
              <a:rPr lang="en-IN" dirty="0">
                <a:latin typeface="Aptos" panose="020B0004020202020204" pitchFamily="34" charset="0"/>
              </a:rPr>
              <a:t> Positive correlation (</a:t>
            </a:r>
            <a:r>
              <a:rPr lang="en-IN" b="1" dirty="0">
                <a:latin typeface="Aptos" panose="020B0004020202020204" pitchFamily="34" charset="0"/>
              </a:rPr>
              <a:t>r = 0.55</a:t>
            </a:r>
            <a:r>
              <a:rPr lang="en-IN" dirty="0">
                <a:latin typeface="Aptos" panose="020B0004020202020204" pitchFamily="34" charset="0"/>
              </a:rPr>
              <a:t>). 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Pesticide use and Disease/Pest Risk:</a:t>
            </a:r>
            <a:r>
              <a:rPr lang="en-IN" dirty="0">
                <a:latin typeface="Aptos" panose="020B0004020202020204" pitchFamily="34" charset="0"/>
              </a:rPr>
              <a:t> Negative correlation (</a:t>
            </a:r>
            <a:r>
              <a:rPr lang="en-IN" b="1" dirty="0">
                <a:latin typeface="Aptos" panose="020B0004020202020204" pitchFamily="34" charset="0"/>
              </a:rPr>
              <a:t>r = -0.47</a:t>
            </a:r>
            <a:r>
              <a:rPr lang="en-IN" dirty="0">
                <a:latin typeface="Aptos" panose="020B0004020202020204" pitchFamily="34" charset="0"/>
              </a:rPr>
              <a:t>). </a:t>
            </a:r>
          </a:p>
          <a:p>
            <a:r>
              <a:rPr lang="en-IN" b="1" dirty="0">
                <a:latin typeface="Aptos" panose="020B0004020202020204" pitchFamily="34" charset="0"/>
              </a:rPr>
              <a:t>Key Finding</a:t>
            </a:r>
          </a:p>
          <a:p>
            <a:r>
              <a:rPr lang="en-IN" b="1" dirty="0">
                <a:latin typeface="Aptos" panose="020B0004020202020204" pitchFamily="34" charset="0"/>
              </a:rPr>
              <a:t>Production and profitability are strongly related to farm-scale and yield factors, while rainfall and humidity show positive relationships with disease and pest risk.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757191-2F25-A6C4-ACB7-133A75E7D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182" y="1134621"/>
            <a:ext cx="6701088" cy="538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805B58-C0FE-9E0F-1781-2C421D1A5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532" y="1909213"/>
            <a:ext cx="6335486" cy="39623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1F0BD8-6BC2-7B5B-35A2-8000E8B91CAC}"/>
              </a:ext>
            </a:extLst>
          </p:cNvPr>
          <p:cNvSpPr txBox="1"/>
          <p:nvPr/>
        </p:nvSpPr>
        <p:spPr>
          <a:xfrm>
            <a:off x="473529" y="1608410"/>
            <a:ext cx="50620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Aptos" panose="020B0004020202020204" pitchFamily="34" charset="0"/>
              </a:rPr>
              <a:t>Average Yield by Crop and Season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Kharif generally shows the highest yield</a:t>
            </a:r>
            <a:r>
              <a:rPr lang="en-IN" dirty="0">
                <a:latin typeface="Aptos" panose="020B0004020202020204" pitchFamily="34" charset="0"/>
              </a:rPr>
              <a:t> across the major crops.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Sugarcane has the highest average yield</a:t>
            </a:r>
            <a:r>
              <a:rPr lang="en-IN" dirty="0">
                <a:latin typeface="Aptos" panose="020B0004020202020204" pitchFamily="34" charset="0"/>
              </a:rPr>
              <a:t> among all crops.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Rabi shows moderate and relatively stable performance</a:t>
            </a:r>
            <a:r>
              <a:rPr lang="en-IN" dirty="0">
                <a:latin typeface="Aptos" panose="020B0004020202020204" pitchFamily="34" charset="0"/>
              </a:rPr>
              <a:t> across crops.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Zaid records comparatively lower yields</a:t>
            </a:r>
            <a:r>
              <a:rPr lang="en-IN" dirty="0">
                <a:latin typeface="Aptos" panose="020B0004020202020204" pitchFamily="34" charset="0"/>
              </a:rPr>
              <a:t> for most crops.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Seasonal differences show that </a:t>
            </a:r>
            <a:r>
              <a:rPr lang="en-IN" b="1" dirty="0">
                <a:latin typeface="Aptos" panose="020B0004020202020204" pitchFamily="34" charset="0"/>
              </a:rPr>
              <a:t>crop performance is closely linked to seasonal conditions</a:t>
            </a:r>
            <a:r>
              <a:rPr lang="en-IN" dirty="0">
                <a:latin typeface="Aptos" panose="020B0004020202020204" pitchFamily="34" charset="0"/>
              </a:rPr>
              <a:t>. </a:t>
            </a:r>
          </a:p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Key Finding</a:t>
            </a:r>
          </a:p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Kharif performs better in terms of average yield, while Sugarcane is the strongest-performing crop across seasons.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RESULTS 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3A34D5-9780-F27A-D838-7925BE1A7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89" y="1146690"/>
            <a:ext cx="9596437" cy="39261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1209B4-DE04-7151-F0EB-D17AA2F548D2}"/>
              </a:ext>
            </a:extLst>
          </p:cNvPr>
          <p:cNvSpPr txBox="1"/>
          <p:nvPr/>
        </p:nvSpPr>
        <p:spPr>
          <a:xfrm>
            <a:off x="536304" y="5072874"/>
            <a:ext cx="111193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Micro-Irrigation Superiority: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Drip irrigation delivers the highest water productivity (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6.27 tonnes per $1,000,\text{m}^3$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) and highest net profit (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₹2.20 Lakhs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).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Water Wastage in Flood Irrigation: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Flood irrigation yields only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3.44 $t/1000,\text{m}^3$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, consuming ~42% more water with lower profit margins.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Seasonal Criticality: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In summer (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Zaid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), micro-irrigation is essential to prevent complete crop failure.</a:t>
            </a:r>
            <a:endParaRPr lang="en-IN" sz="976" b="0" i="0" dirty="0">
              <a:solidFill>
                <a:srgbClr val="CCCCCC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47062E-D3D5-15C7-EFE2-CEBD6FEA4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" y="1339292"/>
            <a:ext cx="9188224" cy="37591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8446D2-A6F4-3786-D129-0F8C27A85498}"/>
              </a:ext>
            </a:extLst>
          </p:cNvPr>
          <p:cNvSpPr txBox="1"/>
          <p:nvPr/>
        </p:nvSpPr>
        <p:spPr>
          <a:xfrm>
            <a:off x="843303" y="5133885"/>
            <a:ext cx="84255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Kharif has the highest disease/pest risk</a:t>
            </a:r>
            <a:r>
              <a:rPr lang="en-IN" dirty="0">
                <a:latin typeface="Aptos" panose="020B0004020202020204" pitchFamily="34" charset="0"/>
              </a:rPr>
              <a:t> compared with Rabi and Zaid.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Higher humidity is associated with higher disease/pest risk.</a:t>
            </a:r>
            <a:r>
              <a:rPr lang="en-IN" dirty="0">
                <a:latin typeface="Aptos" panose="020B000402020202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This suggests that </a:t>
            </a:r>
            <a:r>
              <a:rPr lang="en-IN" b="1" dirty="0">
                <a:latin typeface="Aptos" panose="020B0004020202020204" pitchFamily="34" charset="0"/>
              </a:rPr>
              <a:t>humid seasonal conditions require better pest and disease management.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6219-C13F-6581-59C5-B41D1E9F0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69D95C-F183-2226-4C64-C9467572A7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3510CBF-5C5F-4184-8094-D4D9A5A6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BDC6F3-6C75-B1A1-A70C-51AE04DDD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3950"/>
            <a:ext cx="9846129" cy="40249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8A70D8-5090-ABEB-43AC-96D7F1FB8A82}"/>
              </a:ext>
            </a:extLst>
          </p:cNvPr>
          <p:cNvSpPr txBox="1"/>
          <p:nvPr/>
        </p:nvSpPr>
        <p:spPr>
          <a:xfrm>
            <a:off x="675957" y="5302084"/>
            <a:ext cx="85398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Medium and large farms show higher profit per hectare</a:t>
            </a:r>
            <a:r>
              <a:rPr lang="en-IN" dirty="0">
                <a:latin typeface="Aptos" panose="020B0004020202020204" pitchFamily="34" charset="0"/>
              </a:rPr>
              <a:t> than small farms.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Cost per hectare remains relatively similar</a:t>
            </a:r>
            <a:r>
              <a:rPr lang="en-IN" dirty="0">
                <a:latin typeface="Aptos" panose="020B0004020202020204" pitchFamily="34" charset="0"/>
              </a:rPr>
              <a:t> across the three farm 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Larger farms show better returns, indicating a possible </a:t>
            </a:r>
            <a:r>
              <a:rPr lang="en-IN" b="1" dirty="0">
                <a:latin typeface="Aptos" panose="020B0004020202020204" pitchFamily="34" charset="0"/>
              </a:rPr>
              <a:t>economy of scale</a:t>
            </a:r>
            <a:r>
              <a:rPr lang="en-IN" dirty="0"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204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8FC53-1CAC-7C3B-0C90-74A5E6B2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C1742B-067C-923C-B8CC-F73AFCC3C3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8F4CF7A-B978-9FCF-5265-D206D417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5C63D-39FE-51DD-EAC7-CEFF8D609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214" y="1201586"/>
            <a:ext cx="6987695" cy="4823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6949AC-34F1-E951-E87F-AC4128213DBC}"/>
              </a:ext>
            </a:extLst>
          </p:cNvPr>
          <p:cNvSpPr txBox="1"/>
          <p:nvPr/>
        </p:nvSpPr>
        <p:spPr>
          <a:xfrm>
            <a:off x="675957" y="1319248"/>
            <a:ext cx="467981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 err="1">
                <a:latin typeface="Aptos" panose="020B0004020202020204" pitchFamily="34" charset="0"/>
              </a:rPr>
              <a:t>AgriScore</a:t>
            </a:r>
            <a:r>
              <a:rPr lang="en-IN" b="1" dirty="0">
                <a:latin typeface="Aptos" panose="020B0004020202020204" pitchFamily="34" charset="0"/>
              </a:rPr>
              <a:t> Crop Suitability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 err="1">
                <a:latin typeface="Aptos" panose="020B0004020202020204" pitchFamily="34" charset="0"/>
              </a:rPr>
              <a:t>AgriScore</a:t>
            </a:r>
            <a:r>
              <a:rPr lang="en-IN" dirty="0">
                <a:latin typeface="Aptos" panose="020B0004020202020204" pitchFamily="34" charset="0"/>
              </a:rPr>
              <a:t> combines </a:t>
            </a:r>
            <a:r>
              <a:rPr lang="en-IN" b="1" dirty="0">
                <a:latin typeface="Aptos" panose="020B0004020202020204" pitchFamily="34" charset="0"/>
              </a:rPr>
              <a:t>Yield, Profitability, Water Productivity, and Pest Resilience</a:t>
            </a:r>
            <a:r>
              <a:rPr lang="en-IN" dirty="0">
                <a:latin typeface="Aptos" panose="020B0004020202020204" pitchFamily="34" charset="0"/>
              </a:rPr>
              <a:t> into one overall score.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Aptos" panose="020B0004020202020204" pitchFamily="34" charset="0"/>
              </a:rPr>
              <a:t>Sugarcane is the strongest performer</a:t>
            </a:r>
            <a:r>
              <a:rPr lang="en-IN" dirty="0">
                <a:latin typeface="Aptos" panose="020B0004020202020204" pitchFamily="34" charset="0"/>
              </a:rPr>
              <a:t> across all seasons, with the highest score in Kharif (</a:t>
            </a:r>
            <a:r>
              <a:rPr lang="en-IN" b="1" dirty="0">
                <a:latin typeface="Aptos" panose="020B0004020202020204" pitchFamily="34" charset="0"/>
              </a:rPr>
              <a:t>86.22</a:t>
            </a:r>
            <a:r>
              <a:rPr lang="en-IN" dirty="0">
                <a:latin typeface="Aptos" panose="020B0004020202020204" pitchFamily="34" charset="0"/>
              </a:rPr>
              <a:t>), Rabi (</a:t>
            </a:r>
            <a:r>
              <a:rPr lang="en-IN" b="1" dirty="0">
                <a:latin typeface="Aptos" panose="020B0004020202020204" pitchFamily="34" charset="0"/>
              </a:rPr>
              <a:t>79.34</a:t>
            </a:r>
            <a:r>
              <a:rPr lang="en-IN" dirty="0">
                <a:latin typeface="Aptos" panose="020B0004020202020204" pitchFamily="34" charset="0"/>
              </a:rPr>
              <a:t>), and Zaid (</a:t>
            </a:r>
            <a:r>
              <a:rPr lang="en-IN" b="1" dirty="0">
                <a:latin typeface="Aptos" panose="020B0004020202020204" pitchFamily="34" charset="0"/>
              </a:rPr>
              <a:t>71.09</a:t>
            </a:r>
            <a:r>
              <a:rPr lang="en-IN" dirty="0">
                <a:latin typeface="Aptos" panose="020B0004020202020204" pitchFamily="34" charset="0"/>
              </a:rPr>
              <a:t>).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Aptos" panose="020B0004020202020204" pitchFamily="34" charset="0"/>
              </a:rPr>
              <a:t>Chilli is the second-best performer</a:t>
            </a:r>
            <a:r>
              <a:rPr lang="en-IN" dirty="0">
                <a:latin typeface="Aptos" panose="020B0004020202020204" pitchFamily="34" charset="0"/>
              </a:rPr>
              <a:t>, especially in Kharif and Rabi. </a:t>
            </a:r>
          </a:p>
          <a:p>
            <a:r>
              <a:rPr lang="en-IN" b="1" dirty="0">
                <a:latin typeface="Aptos" panose="020B0004020202020204" pitchFamily="34" charset="0"/>
              </a:rPr>
              <a:t>Key Finding: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dirty="0">
                <a:latin typeface="Aptos" panose="020B0004020202020204" pitchFamily="34" charset="0"/>
              </a:rPr>
              <a:t>Sugarcane shows the highest overall suitability across the three seasons.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32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40941-4580-314A-800F-8DFDFCB4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6A7763-EA3A-4652-EB42-587E1397AE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D94CE4C-C99E-C08F-7CBE-A237316D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C57E6C-979D-DB98-0137-7A1CC370A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643" y="949401"/>
            <a:ext cx="4163518" cy="57155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FFA142-D9E4-E985-8779-AF25F7CFB7F4}"/>
              </a:ext>
            </a:extLst>
          </p:cNvPr>
          <p:cNvSpPr txBox="1"/>
          <p:nvPr/>
        </p:nvSpPr>
        <p:spPr>
          <a:xfrm>
            <a:off x="6384471" y="543585"/>
            <a:ext cx="6106884" cy="242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Suitability Summary Table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DB06D22-685F-5536-BB75-8F824C285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276487"/>
              </p:ext>
            </p:extLst>
          </p:nvPr>
        </p:nvGraphicFramePr>
        <p:xfrm>
          <a:off x="675957" y="1458679"/>
          <a:ext cx="4843100" cy="256032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210775">
                  <a:extLst>
                    <a:ext uri="{9D8B030D-6E8A-4147-A177-3AD203B41FA5}">
                      <a16:colId xmlns:a16="http://schemas.microsoft.com/office/drawing/2014/main" val="1449464570"/>
                    </a:ext>
                  </a:extLst>
                </a:gridCol>
                <a:gridCol w="1378982">
                  <a:extLst>
                    <a:ext uri="{9D8B030D-6E8A-4147-A177-3AD203B41FA5}">
                      <a16:colId xmlns:a16="http://schemas.microsoft.com/office/drawing/2014/main" val="2095205566"/>
                    </a:ext>
                  </a:extLst>
                </a:gridCol>
                <a:gridCol w="1224643">
                  <a:extLst>
                    <a:ext uri="{9D8B030D-6E8A-4147-A177-3AD203B41FA5}">
                      <a16:colId xmlns:a16="http://schemas.microsoft.com/office/drawing/2014/main" val="230115548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346002347"/>
                    </a:ext>
                  </a:extLst>
                </a:gridCol>
              </a:tblGrid>
              <a:tr h="221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Crop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AgriScore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Mean Profit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110318"/>
                  </a:ext>
                </a:extLst>
              </a:tr>
              <a:tr h="350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Kharif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Sugarcane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86.22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₹10.01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56314"/>
                  </a:ext>
                </a:extLst>
              </a:tr>
              <a:tr h="350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Sugarcane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79.34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₹7.32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037876"/>
                  </a:ext>
                </a:extLst>
              </a:tr>
              <a:tr h="350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Sugarcane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71.09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₹5.84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65128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1E0E87-76EB-CA52-7B44-7F9450301662}"/>
              </a:ext>
            </a:extLst>
          </p:cNvPr>
          <p:cNvSpPr txBox="1"/>
          <p:nvPr/>
        </p:nvSpPr>
        <p:spPr>
          <a:xfrm>
            <a:off x="544354" y="4356636"/>
            <a:ext cx="54414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Other Strong Performer</a:t>
            </a:r>
          </a:p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Chilli: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dirty="0" err="1">
                <a:latin typeface="Aptos" panose="020B0004020202020204" pitchFamily="34" charset="0"/>
              </a:rPr>
              <a:t>AgriScore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b="1" dirty="0">
                <a:latin typeface="Aptos" panose="020B0004020202020204" pitchFamily="34" charset="0"/>
              </a:rPr>
              <a:t>37.31 (Kharif)</a:t>
            </a:r>
            <a:r>
              <a:rPr lang="en-IN" dirty="0">
                <a:latin typeface="Aptos" panose="020B0004020202020204" pitchFamily="34" charset="0"/>
              </a:rPr>
              <a:t> and </a:t>
            </a:r>
            <a:r>
              <a:rPr lang="en-IN" b="1" dirty="0">
                <a:latin typeface="Aptos" panose="020B0004020202020204" pitchFamily="34" charset="0"/>
              </a:rPr>
              <a:t>37.50 (Rabi)</a:t>
            </a:r>
          </a:p>
          <a:p>
            <a:pPr>
              <a:buNone/>
            </a:pPr>
            <a:endParaRPr lang="en-IN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Key Finding: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dirty="0">
                <a:latin typeface="Aptos" panose="020B0004020202020204" pitchFamily="34" charset="0"/>
              </a:rPr>
              <a:t>The suitability matrix shows that </a:t>
            </a:r>
            <a:r>
              <a:rPr lang="en-IN" b="1" dirty="0">
                <a:latin typeface="Aptos" panose="020B0004020202020204" pitchFamily="34" charset="0"/>
              </a:rPr>
              <a:t>Sugarcane consistently ranks first</a:t>
            </a:r>
            <a:r>
              <a:rPr lang="en-IN" dirty="0">
                <a:latin typeface="Aptos" panose="020B0004020202020204" pitchFamily="34" charset="0"/>
              </a:rPr>
              <a:t>, while Chilli provides the next strongest combination of score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9841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25871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1A947-2395-E1B3-2942-79F80846B639}"/>
              </a:ext>
            </a:extLst>
          </p:cNvPr>
          <p:cNvSpPr txBox="1"/>
          <p:nvPr/>
        </p:nvSpPr>
        <p:spPr>
          <a:xfrm>
            <a:off x="855571" y="1608410"/>
            <a:ext cx="7994515" cy="4611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Multi-year Data Analysis:</a:t>
            </a:r>
            <a:r>
              <a:rPr lang="en-IN" dirty="0"/>
              <a:t> Use data from multiple years to study long-term agricultural and seasonal trends.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Climate Trend Analysis: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the impact of changing rainfall and temperature patterns on crop performance.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GIS Integration:</a:t>
            </a:r>
            <a:r>
              <a:rPr lang="en-IN" dirty="0"/>
              <a:t> Add district-level maps to study regional differences in agriculture.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Soil &amp; Water Analysis:</a:t>
            </a:r>
            <a:r>
              <a:rPr lang="en-IN" dirty="0"/>
              <a:t> Include groundwater availability and detailed soil information for better crop planning.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Improved Crop Recommendations:</a:t>
            </a:r>
            <a:r>
              <a:rPr lang="en-IN" dirty="0"/>
              <a:t> Develop a more advanced system to recommend suitable crops based on seasonal conditions.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E4248D-C4F8-5CB4-776E-FCE1C56D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57" y="1449606"/>
            <a:ext cx="6818857" cy="482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6492" y="2971892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601</TotalTime>
  <Words>1045</Words>
  <Application>Microsoft Office PowerPoint</Application>
  <PresentationFormat>Widescreen</PresentationFormat>
  <Paragraphs>123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RUKESH SG</cp:lastModifiedBy>
  <cp:revision>99</cp:revision>
  <dcterms:created xsi:type="dcterms:W3CDTF">2021-07-11T13:13:15Z</dcterms:created>
  <dcterms:modified xsi:type="dcterms:W3CDTF">2026-09-04T08:43:20Z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