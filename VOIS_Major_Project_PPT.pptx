
<file path=[Content_Types].xml><?xml version="1.0" encoding="utf-8"?>
<Types xmlns="http://schemas.openxmlformats.org/package/2006/content-types">
  <Default Extension="jfif" ContentType="image/jpeg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7" r:id="rId4"/>
  </p:sldMasterIdLst>
  <p:notesMasterIdLst>
    <p:notesMasterId r:id="rId22"/>
  </p:notesMasterIdLst>
  <p:handoutMasterIdLst>
    <p:handoutMasterId r:id="rId23"/>
  </p:handoutMasterIdLst>
  <p:sldIdLst>
    <p:sldId id="338" r:id="rId5"/>
    <p:sldId id="327" r:id="rId6"/>
    <p:sldId id="315" r:id="rId7"/>
    <p:sldId id="329" r:id="rId8"/>
    <p:sldId id="302" r:id="rId9"/>
    <p:sldId id="339" r:id="rId10"/>
    <p:sldId id="340" r:id="rId11"/>
    <p:sldId id="344" r:id="rId12"/>
    <p:sldId id="345" r:id="rId13"/>
    <p:sldId id="346" r:id="rId14"/>
    <p:sldId id="347" r:id="rId15"/>
    <p:sldId id="350" r:id="rId16"/>
    <p:sldId id="349" r:id="rId17"/>
    <p:sldId id="341" r:id="rId18"/>
    <p:sldId id="342" r:id="rId19"/>
    <p:sldId id="343" r:id="rId20"/>
    <p:sldId id="304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68" userDrawn="1">
          <p15:clr>
            <a:srgbClr val="A4A3A4"/>
          </p15:clr>
        </p15:guide>
        <p15:guide id="2" pos="408" userDrawn="1">
          <p15:clr>
            <a:srgbClr val="A4A3A4"/>
          </p15:clr>
        </p15:guide>
        <p15:guide id="3" orient="horz" pos="3912" userDrawn="1">
          <p15:clr>
            <a:srgbClr val="A4A3A4"/>
          </p15:clr>
        </p15:guide>
        <p15:guide id="4" pos="7272" userDrawn="1">
          <p15:clr>
            <a:srgbClr val="A4A3A4"/>
          </p15:clr>
        </p15:guide>
        <p15:guide id="5" orient="horz" pos="165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E25E649-3F16-4E02-A733-19D2CDBF48F0}"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85" autoAdjust="0"/>
    <p:restoredTop sz="95033" autoAdjust="0"/>
  </p:normalViewPr>
  <p:slideViewPr>
    <p:cSldViewPr snapToGrid="0">
      <p:cViewPr varScale="1">
        <p:scale>
          <a:sx n="89" d="100"/>
          <a:sy n="89" d="100"/>
        </p:scale>
        <p:origin x="370" y="72"/>
      </p:cViewPr>
      <p:guideLst>
        <p:guide orient="horz" pos="1968"/>
        <p:guide pos="408"/>
        <p:guide orient="horz" pos="3912"/>
        <p:guide pos="7272"/>
        <p:guide orient="horz" pos="1656"/>
      </p:guideLst>
    </p:cSldViewPr>
  </p:slideViewPr>
  <p:outlineViewPr>
    <p:cViewPr>
      <p:scale>
        <a:sx n="33" d="100"/>
        <a:sy n="33" d="100"/>
      </p:scale>
      <p:origin x="0" y="-4886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0" d="100"/>
        <a:sy n="110" d="100"/>
      </p:scale>
      <p:origin x="0" y="-965"/>
    </p:cViewPr>
  </p:sorterViewPr>
  <p:notesViewPr>
    <p:cSldViewPr snapToGrid="0">
      <p:cViewPr varScale="1">
        <p:scale>
          <a:sx n="60" d="100"/>
          <a:sy n="60" d="100"/>
        </p:scale>
        <p:origin x="3187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1077DB-935E-4A0A-947A-D283B9F9F452}" type="datetimeFigureOut">
              <a:rPr lang="en-US" smtClean="0"/>
              <a:t>9/4/2026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2C0B10-7CAE-41E4-AB02-7E8B1FF2B89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9EC30E-1A71-4188-9BE7-E2A64929A436}" type="datetimeFigureOut">
              <a:rPr lang="en-US" noProof="0" smtClean="0"/>
              <a:t>9/4/2026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30193B-564F-4854-8A52-728F3FB19C8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03816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30193B-564F-4854-8A52-728F3FB19C85}" type="slidenum">
              <a:rPr lang="en-US" noProof="0" smtClean="0"/>
              <a:t>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079122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02203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052846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7669602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smtClean="0"/>
              <a:t>9/4/2026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7459935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23909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1965439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9/4/2026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6897335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smtClean="0"/>
              <a:t>9/4/2026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620618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9/4/2026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30451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810971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22563127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8478255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26250616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3561930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smtClean="0"/>
              <a:t>9/4/2026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7920135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619384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FDA3C6F-5F6A-4D64-8BFE-AFFF58B1A04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12871" y="4141999"/>
            <a:ext cx="4220845" cy="8614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>
                <a:solidFill>
                  <a:schemeClr val="accent4"/>
                </a:solidFill>
                <a:latin typeface="+mj-lt"/>
              </a:defRPr>
            </a:lvl1pPr>
            <a:lvl2pPr>
              <a:buNone/>
              <a:defRPr sz="20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" name="Hexagon 14">
            <a:extLst>
              <a:ext uri="{FF2B5EF4-FFF2-40B4-BE49-F238E27FC236}">
                <a16:creationId xmlns:a16="http://schemas.microsoft.com/office/drawing/2014/main" id="{AC159667-7690-4645-986D-BE501438455F}"/>
              </a:ext>
            </a:extLst>
          </p:cNvPr>
          <p:cNvSpPr/>
          <p:nvPr userDrawn="1"/>
        </p:nvSpPr>
        <p:spPr>
          <a:xfrm>
            <a:off x="740309" y="1382809"/>
            <a:ext cx="1229566" cy="1059971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Hexagon 15">
            <a:extLst>
              <a:ext uri="{FF2B5EF4-FFF2-40B4-BE49-F238E27FC236}">
                <a16:creationId xmlns:a16="http://schemas.microsoft.com/office/drawing/2014/main" id="{54667EE4-E77F-453B-BF8B-B1EE2AE80715}"/>
              </a:ext>
            </a:extLst>
          </p:cNvPr>
          <p:cNvSpPr/>
          <p:nvPr userDrawn="1"/>
        </p:nvSpPr>
        <p:spPr>
          <a:xfrm>
            <a:off x="3755031" y="1194620"/>
            <a:ext cx="1666162" cy="1436347"/>
          </a:xfrm>
          <a:prstGeom prst="hexagon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Hexagon 16">
            <a:extLst>
              <a:ext uri="{FF2B5EF4-FFF2-40B4-BE49-F238E27FC236}">
                <a16:creationId xmlns:a16="http://schemas.microsoft.com/office/drawing/2014/main" id="{FC050232-A229-425F-BFC8-D50374F2D171}"/>
              </a:ext>
            </a:extLst>
          </p:cNvPr>
          <p:cNvSpPr/>
          <p:nvPr userDrawn="1"/>
        </p:nvSpPr>
        <p:spPr>
          <a:xfrm>
            <a:off x="3804994" y="5233183"/>
            <a:ext cx="718261" cy="619191"/>
          </a:xfrm>
          <a:prstGeom prst="hexagon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Hexagon 17">
            <a:extLst>
              <a:ext uri="{FF2B5EF4-FFF2-40B4-BE49-F238E27FC236}">
                <a16:creationId xmlns:a16="http://schemas.microsoft.com/office/drawing/2014/main" id="{53E4EBC7-340A-43A5-9E23-4B73A6F700B6}"/>
              </a:ext>
            </a:extLst>
          </p:cNvPr>
          <p:cNvSpPr/>
          <p:nvPr userDrawn="1"/>
        </p:nvSpPr>
        <p:spPr>
          <a:xfrm>
            <a:off x="1837838" y="1101306"/>
            <a:ext cx="651613" cy="561736"/>
          </a:xfrm>
          <a:prstGeom prst="hexagon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1ED0E31A-F0A3-481D-8D9C-E3C4531FD21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571515" y="1914044"/>
            <a:ext cx="3993624" cy="3617848"/>
          </a:xfrm>
          <a:custGeom>
            <a:avLst/>
            <a:gdLst>
              <a:gd name="connsiteX0" fmla="*/ 1223161 w 3993624"/>
              <a:gd name="connsiteY0" fmla="*/ 2354088 h 3617848"/>
              <a:gd name="connsiteX1" fmla="*/ 2057242 w 3993624"/>
              <a:gd name="connsiteY1" fmla="*/ 2354088 h 3617848"/>
              <a:gd name="connsiteX2" fmla="*/ 2373182 w 3993624"/>
              <a:gd name="connsiteY2" fmla="*/ 2985968 h 3617848"/>
              <a:gd name="connsiteX3" fmla="*/ 2057242 w 3993624"/>
              <a:gd name="connsiteY3" fmla="*/ 3617848 h 3617848"/>
              <a:gd name="connsiteX4" fmla="*/ 1223161 w 3993624"/>
              <a:gd name="connsiteY4" fmla="*/ 3617848 h 3617848"/>
              <a:gd name="connsiteX5" fmla="*/ 907221 w 3993624"/>
              <a:gd name="connsiteY5" fmla="*/ 2985968 h 3617848"/>
              <a:gd name="connsiteX6" fmla="*/ 2569631 w 3993624"/>
              <a:gd name="connsiteY6" fmla="*/ 1425984 h 3617848"/>
              <a:gd name="connsiteX7" fmla="*/ 3602417 w 3993624"/>
              <a:gd name="connsiteY7" fmla="*/ 1425984 h 3617848"/>
              <a:gd name="connsiteX8" fmla="*/ 3993624 w 3993624"/>
              <a:gd name="connsiteY8" fmla="*/ 2208398 h 3617848"/>
              <a:gd name="connsiteX9" fmla="*/ 3602417 w 3993624"/>
              <a:gd name="connsiteY9" fmla="*/ 2990812 h 3617848"/>
              <a:gd name="connsiteX10" fmla="*/ 2569631 w 3993624"/>
              <a:gd name="connsiteY10" fmla="*/ 2990812 h 3617848"/>
              <a:gd name="connsiteX11" fmla="*/ 2178424 w 3993624"/>
              <a:gd name="connsiteY11" fmla="*/ 2208398 h 3617848"/>
              <a:gd name="connsiteX12" fmla="*/ 551406 w 3993624"/>
              <a:gd name="connsiteY12" fmla="*/ 0 h 3617848"/>
              <a:gd name="connsiteX13" fmla="*/ 2007117 w 3993624"/>
              <a:gd name="connsiteY13" fmla="*/ 0 h 3617848"/>
              <a:gd name="connsiteX14" fmla="*/ 2558523 w 3993624"/>
              <a:gd name="connsiteY14" fmla="*/ 1102811 h 3617848"/>
              <a:gd name="connsiteX15" fmla="*/ 2007117 w 3993624"/>
              <a:gd name="connsiteY15" fmla="*/ 2205622 h 3617848"/>
              <a:gd name="connsiteX16" fmla="*/ 551406 w 3993624"/>
              <a:gd name="connsiteY16" fmla="*/ 2205622 h 3617848"/>
              <a:gd name="connsiteX17" fmla="*/ 0 w 3993624"/>
              <a:gd name="connsiteY17" fmla="*/ 1102811 h 36178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993624" h="3617848">
                <a:moveTo>
                  <a:pt x="1223161" y="2354088"/>
                </a:moveTo>
                <a:lnTo>
                  <a:pt x="2057242" y="2354088"/>
                </a:lnTo>
                <a:lnTo>
                  <a:pt x="2373182" y="2985968"/>
                </a:lnTo>
                <a:lnTo>
                  <a:pt x="2057242" y="3617848"/>
                </a:lnTo>
                <a:lnTo>
                  <a:pt x="1223161" y="3617848"/>
                </a:lnTo>
                <a:lnTo>
                  <a:pt x="907221" y="2985968"/>
                </a:lnTo>
                <a:close/>
                <a:moveTo>
                  <a:pt x="2569631" y="1425984"/>
                </a:moveTo>
                <a:lnTo>
                  <a:pt x="3602417" y="1425984"/>
                </a:lnTo>
                <a:lnTo>
                  <a:pt x="3993624" y="2208398"/>
                </a:lnTo>
                <a:lnTo>
                  <a:pt x="3602417" y="2990812"/>
                </a:lnTo>
                <a:lnTo>
                  <a:pt x="2569631" y="2990812"/>
                </a:lnTo>
                <a:lnTo>
                  <a:pt x="2178424" y="2208398"/>
                </a:lnTo>
                <a:close/>
                <a:moveTo>
                  <a:pt x="551406" y="0"/>
                </a:moveTo>
                <a:lnTo>
                  <a:pt x="2007117" y="0"/>
                </a:lnTo>
                <a:lnTo>
                  <a:pt x="2558523" y="1102811"/>
                </a:lnTo>
                <a:lnTo>
                  <a:pt x="2007117" y="2205622"/>
                </a:lnTo>
                <a:lnTo>
                  <a:pt x="551406" y="2205622"/>
                </a:lnTo>
                <a:lnTo>
                  <a:pt x="0" y="1102811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E68100-C56F-4515-A4FD-3F301797E7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2871" y="2050552"/>
            <a:ext cx="4998720" cy="1748983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091946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72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 9">
            <a:extLst>
              <a:ext uri="{FF2B5EF4-FFF2-40B4-BE49-F238E27FC236}">
                <a16:creationId xmlns:a16="http://schemas.microsoft.com/office/drawing/2014/main" id="{24FAA9D0-7C9C-4043-9931-A15819ABB9B5}"/>
              </a:ext>
            </a:extLst>
          </p:cNvPr>
          <p:cNvSpPr/>
          <p:nvPr userDrawn="1"/>
        </p:nvSpPr>
        <p:spPr>
          <a:xfrm>
            <a:off x="7362825" y="443263"/>
            <a:ext cx="361950" cy="361950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232AB2D-843E-4B5F-8793-6A263DA356BB}"/>
              </a:ext>
            </a:extLst>
          </p:cNvPr>
          <p:cNvSpPr/>
          <p:nvPr userDrawn="1"/>
        </p:nvSpPr>
        <p:spPr>
          <a:xfrm>
            <a:off x="11007246" y="5605994"/>
            <a:ext cx="654227" cy="65422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A75A12B-C399-4072-BD69-D872D2C2AD1F}"/>
              </a:ext>
            </a:extLst>
          </p:cNvPr>
          <p:cNvSpPr/>
          <p:nvPr userDrawn="1"/>
        </p:nvSpPr>
        <p:spPr>
          <a:xfrm>
            <a:off x="10683791" y="6132439"/>
            <a:ext cx="251152" cy="25115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423AE48B-50E9-4BEA-B66A-B2D2B9CCFE9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733416" y="624239"/>
            <a:ext cx="5855754" cy="5631571"/>
          </a:xfrm>
          <a:custGeom>
            <a:avLst/>
            <a:gdLst>
              <a:gd name="connsiteX0" fmla="*/ 3433020 w 5855754"/>
              <a:gd name="connsiteY0" fmla="*/ 786103 h 5631571"/>
              <a:gd name="connsiteX1" fmla="*/ 5855754 w 5855754"/>
              <a:gd name="connsiteY1" fmla="*/ 3208837 h 5631571"/>
              <a:gd name="connsiteX2" fmla="*/ 3433020 w 5855754"/>
              <a:gd name="connsiteY2" fmla="*/ 5631571 h 5631571"/>
              <a:gd name="connsiteX3" fmla="*/ 1010286 w 5855754"/>
              <a:gd name="connsiteY3" fmla="*/ 3208837 h 5631571"/>
              <a:gd name="connsiteX4" fmla="*/ 3433020 w 5855754"/>
              <a:gd name="connsiteY4" fmla="*/ 786103 h 5631571"/>
              <a:gd name="connsiteX5" fmla="*/ 828675 w 5855754"/>
              <a:gd name="connsiteY5" fmla="*/ 0 h 5631571"/>
              <a:gd name="connsiteX6" fmla="*/ 1657350 w 5855754"/>
              <a:gd name="connsiteY6" fmla="*/ 828675 h 5631571"/>
              <a:gd name="connsiteX7" fmla="*/ 828675 w 5855754"/>
              <a:gd name="connsiteY7" fmla="*/ 1657350 h 5631571"/>
              <a:gd name="connsiteX8" fmla="*/ 0 w 5855754"/>
              <a:gd name="connsiteY8" fmla="*/ 828675 h 5631571"/>
              <a:gd name="connsiteX9" fmla="*/ 828675 w 5855754"/>
              <a:gd name="connsiteY9" fmla="*/ 0 h 5631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855754" h="5631571">
                <a:moveTo>
                  <a:pt x="3433020" y="786103"/>
                </a:moveTo>
                <a:cubicBezTo>
                  <a:pt x="4771059" y="786103"/>
                  <a:pt x="5855754" y="1870798"/>
                  <a:pt x="5855754" y="3208837"/>
                </a:cubicBezTo>
                <a:cubicBezTo>
                  <a:pt x="5855754" y="4546876"/>
                  <a:pt x="4771059" y="5631571"/>
                  <a:pt x="3433020" y="5631571"/>
                </a:cubicBezTo>
                <a:cubicBezTo>
                  <a:pt x="2094981" y="5631571"/>
                  <a:pt x="1010286" y="4546876"/>
                  <a:pt x="1010286" y="3208837"/>
                </a:cubicBezTo>
                <a:cubicBezTo>
                  <a:pt x="1010286" y="1870798"/>
                  <a:pt x="2094981" y="786103"/>
                  <a:pt x="3433020" y="786103"/>
                </a:cubicBezTo>
                <a:close/>
                <a:moveTo>
                  <a:pt x="828675" y="0"/>
                </a:moveTo>
                <a:cubicBezTo>
                  <a:pt x="1286340" y="0"/>
                  <a:pt x="1657350" y="371010"/>
                  <a:pt x="1657350" y="828675"/>
                </a:cubicBezTo>
                <a:cubicBezTo>
                  <a:pt x="1657350" y="1286340"/>
                  <a:pt x="1286340" y="1657350"/>
                  <a:pt x="828675" y="1657350"/>
                </a:cubicBezTo>
                <a:cubicBezTo>
                  <a:pt x="371010" y="1657350"/>
                  <a:pt x="0" y="1286340"/>
                  <a:pt x="0" y="828675"/>
                </a:cubicBezTo>
                <a:cubicBezTo>
                  <a:pt x="0" y="371010"/>
                  <a:pt x="371010" y="0"/>
                  <a:pt x="828675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282D3E62-6D1A-4E9D-BE54-2EED9BF429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EB8F0E5-B89F-48AD-87BD-534EA9463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1395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26">
            <a:extLst>
              <a:ext uri="{FF2B5EF4-FFF2-40B4-BE49-F238E27FC236}">
                <a16:creationId xmlns:a16="http://schemas.microsoft.com/office/drawing/2014/main" id="{4AA38E8C-A334-4183-8ABC-112B8517F4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80624A4-5116-4AAF-8C31-C25D1DB16FEC}"/>
              </a:ext>
            </a:extLst>
          </p:cNvPr>
          <p:cNvSpPr/>
          <p:nvPr userDrawn="1"/>
        </p:nvSpPr>
        <p:spPr>
          <a:xfrm>
            <a:off x="9354457" y="5363987"/>
            <a:ext cx="457200" cy="4572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D07EC8A-6024-4DEA-9C4D-AE4228E17854}"/>
              </a:ext>
            </a:extLst>
          </p:cNvPr>
          <p:cNvSpPr/>
          <p:nvPr userDrawn="1"/>
        </p:nvSpPr>
        <p:spPr>
          <a:xfrm>
            <a:off x="6692791" y="1699889"/>
            <a:ext cx="319749" cy="31974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1C8FAEF-DF78-48CC-AEEF-F9B802055C05}"/>
              </a:ext>
            </a:extLst>
          </p:cNvPr>
          <p:cNvSpPr/>
          <p:nvPr userDrawn="1"/>
        </p:nvSpPr>
        <p:spPr>
          <a:xfrm>
            <a:off x="9354457" y="5897738"/>
            <a:ext cx="179977" cy="17997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66F72D6-AEEE-4CF3-8136-F6782F1E489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090227" y="786181"/>
            <a:ext cx="4441372" cy="5393036"/>
          </a:xfrm>
          <a:custGeom>
            <a:avLst/>
            <a:gdLst>
              <a:gd name="connsiteX0" fmla="*/ 0 w 4441372"/>
              <a:gd name="connsiteY0" fmla="*/ 3188969 h 5393036"/>
              <a:gd name="connsiteX1" fmla="*/ 2173516 w 4441372"/>
              <a:gd name="connsiteY1" fmla="*/ 3188969 h 5393036"/>
              <a:gd name="connsiteX2" fmla="*/ 2173516 w 4441372"/>
              <a:gd name="connsiteY2" fmla="*/ 5393036 h 5393036"/>
              <a:gd name="connsiteX3" fmla="*/ 0 w 4441372"/>
              <a:gd name="connsiteY3" fmla="*/ 5393036 h 5393036"/>
              <a:gd name="connsiteX4" fmla="*/ 2267856 w 4441372"/>
              <a:gd name="connsiteY4" fmla="*/ 2293018 h 5393036"/>
              <a:gd name="connsiteX5" fmla="*/ 4441372 w 4441372"/>
              <a:gd name="connsiteY5" fmla="*/ 2293018 h 5393036"/>
              <a:gd name="connsiteX6" fmla="*/ 4441372 w 4441372"/>
              <a:gd name="connsiteY6" fmla="*/ 4497085 h 5393036"/>
              <a:gd name="connsiteX7" fmla="*/ 2267856 w 4441372"/>
              <a:gd name="connsiteY7" fmla="*/ 4497085 h 5393036"/>
              <a:gd name="connsiteX8" fmla="*/ 0 w 4441372"/>
              <a:gd name="connsiteY8" fmla="*/ 906837 h 5393036"/>
              <a:gd name="connsiteX9" fmla="*/ 2173516 w 4441372"/>
              <a:gd name="connsiteY9" fmla="*/ 906837 h 5393036"/>
              <a:gd name="connsiteX10" fmla="*/ 2173516 w 4441372"/>
              <a:gd name="connsiteY10" fmla="*/ 3110904 h 5393036"/>
              <a:gd name="connsiteX11" fmla="*/ 0 w 4441372"/>
              <a:gd name="connsiteY11" fmla="*/ 3110904 h 5393036"/>
              <a:gd name="connsiteX12" fmla="*/ 2267856 w 4441372"/>
              <a:gd name="connsiteY12" fmla="*/ 0 h 5393036"/>
              <a:gd name="connsiteX13" fmla="*/ 4441372 w 4441372"/>
              <a:gd name="connsiteY13" fmla="*/ 0 h 5393036"/>
              <a:gd name="connsiteX14" fmla="*/ 4441372 w 4441372"/>
              <a:gd name="connsiteY14" fmla="*/ 2204067 h 5393036"/>
              <a:gd name="connsiteX15" fmla="*/ 2267856 w 4441372"/>
              <a:gd name="connsiteY15" fmla="*/ 2204067 h 5393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441372" h="5393036">
                <a:moveTo>
                  <a:pt x="0" y="3188969"/>
                </a:moveTo>
                <a:lnTo>
                  <a:pt x="2173516" y="3188969"/>
                </a:lnTo>
                <a:lnTo>
                  <a:pt x="2173516" y="5393036"/>
                </a:lnTo>
                <a:lnTo>
                  <a:pt x="0" y="5393036"/>
                </a:lnTo>
                <a:close/>
                <a:moveTo>
                  <a:pt x="2267856" y="2293018"/>
                </a:moveTo>
                <a:lnTo>
                  <a:pt x="4441372" y="2293018"/>
                </a:lnTo>
                <a:lnTo>
                  <a:pt x="4441372" y="4497085"/>
                </a:lnTo>
                <a:lnTo>
                  <a:pt x="2267856" y="4497085"/>
                </a:lnTo>
                <a:close/>
                <a:moveTo>
                  <a:pt x="0" y="906837"/>
                </a:moveTo>
                <a:lnTo>
                  <a:pt x="2173516" y="906837"/>
                </a:lnTo>
                <a:lnTo>
                  <a:pt x="2173516" y="3110904"/>
                </a:lnTo>
                <a:lnTo>
                  <a:pt x="0" y="3110904"/>
                </a:lnTo>
                <a:close/>
                <a:moveTo>
                  <a:pt x="2267856" y="0"/>
                </a:moveTo>
                <a:lnTo>
                  <a:pt x="4441372" y="0"/>
                </a:lnTo>
                <a:lnTo>
                  <a:pt x="4441372" y="2204067"/>
                </a:lnTo>
                <a:lnTo>
                  <a:pt x="2267856" y="2204067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9DADC7-BE21-4434-A6E4-BAF809005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12548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04">
          <p15:clr>
            <a:srgbClr val="FBAE40"/>
          </p15:clr>
        </p15:guide>
        <p15:guide id="2" pos="3840">
          <p15:clr>
            <a:srgbClr val="FBAE40"/>
          </p15:clr>
        </p15:guide>
        <p15:guide id="3" orient="horz" pos="1416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icture Placeholder 38">
            <a:extLst>
              <a:ext uri="{FF2B5EF4-FFF2-40B4-BE49-F238E27FC236}">
                <a16:creationId xmlns:a16="http://schemas.microsoft.com/office/drawing/2014/main" id="{CF421413-161E-4B36-B693-FB38DF14EDA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353508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B5D207AE-9C9C-410A-9F31-2402BAD6DDF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11592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0" name="Picture Placeholder 39">
            <a:extLst>
              <a:ext uri="{FF2B5EF4-FFF2-40B4-BE49-F238E27FC236}">
                <a16:creationId xmlns:a16="http://schemas.microsoft.com/office/drawing/2014/main" id="{DE3344FC-C4DE-481F-9C31-667EDD563C4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7602465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1" name="Picture Placeholder 40">
            <a:extLst>
              <a:ext uri="{FF2B5EF4-FFF2-40B4-BE49-F238E27FC236}">
                <a16:creationId xmlns:a16="http://schemas.microsoft.com/office/drawing/2014/main" id="{59094D7D-3613-49C1-BB58-A65B41A9738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84005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69FE87B7-32A4-4C7F-9AAF-37688E640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647700"/>
            <a:ext cx="11340000" cy="700114"/>
          </a:xfrm>
          <a:prstGeom prst="rect">
            <a:avLst/>
          </a:prstGeom>
        </p:spPr>
        <p:txBody>
          <a:bodyPr anchor="ctr"/>
          <a:lstStyle/>
          <a:p>
            <a:pPr algn="ctr"/>
            <a:r>
              <a:rPr lang="en-US" sz="4800" b="1">
                <a:solidFill>
                  <a:schemeClr val="tx1"/>
                </a:solidFill>
              </a:rPr>
              <a:t>Click to edit Master title style</a:t>
            </a:r>
            <a:endParaRPr lang="en-US" sz="4800" b="1" dirty="0">
              <a:solidFill>
                <a:schemeClr val="tx1"/>
              </a:solidFill>
            </a:endParaRPr>
          </a:p>
        </p:txBody>
      </p:sp>
      <p:sp>
        <p:nvSpPr>
          <p:cNvPr id="9" name="Hexagon 8">
            <a:extLst>
              <a:ext uri="{FF2B5EF4-FFF2-40B4-BE49-F238E27FC236}">
                <a16:creationId xmlns:a16="http://schemas.microsoft.com/office/drawing/2014/main" id="{476CA45F-A66A-4AD8-A004-10DB55A5D7B2}"/>
              </a:ext>
            </a:extLst>
          </p:cNvPr>
          <p:cNvSpPr/>
          <p:nvPr userDrawn="1"/>
        </p:nvSpPr>
        <p:spPr>
          <a:xfrm>
            <a:off x="546669" y="3467555"/>
            <a:ext cx="458268" cy="395059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Hexagon 9">
            <a:extLst>
              <a:ext uri="{FF2B5EF4-FFF2-40B4-BE49-F238E27FC236}">
                <a16:creationId xmlns:a16="http://schemas.microsoft.com/office/drawing/2014/main" id="{27A66A3D-2437-4015-9F5F-380C4D23D83C}"/>
              </a:ext>
            </a:extLst>
          </p:cNvPr>
          <p:cNvSpPr/>
          <p:nvPr userDrawn="1"/>
        </p:nvSpPr>
        <p:spPr>
          <a:xfrm>
            <a:off x="11113337" y="2394722"/>
            <a:ext cx="358391" cy="308958"/>
          </a:xfrm>
          <a:prstGeom prst="hexag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Hexagon 10">
            <a:extLst>
              <a:ext uri="{FF2B5EF4-FFF2-40B4-BE49-F238E27FC236}">
                <a16:creationId xmlns:a16="http://schemas.microsoft.com/office/drawing/2014/main" id="{FFB14F3B-E7EF-4546-8D74-71FFB45C77C0}"/>
              </a:ext>
            </a:extLst>
          </p:cNvPr>
          <p:cNvSpPr/>
          <p:nvPr userDrawn="1"/>
        </p:nvSpPr>
        <p:spPr>
          <a:xfrm>
            <a:off x="10882649" y="2202202"/>
            <a:ext cx="230688" cy="198869"/>
          </a:xfrm>
          <a:prstGeom prst="hexagon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591F943B-ED0D-49A1-844A-E23BA9A4871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46668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9AC6B9A8-053C-4828-B705-901C6018F3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6692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:a16="http://schemas.microsoft.com/office/drawing/2014/main" id="{BBA6FD52-E179-41F8-AE78-9AF3D65F28B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89482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C49A82AB-D328-4DB0-841B-186884119E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78948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>
            <a:extLst>
              <a:ext uri="{FF2B5EF4-FFF2-40B4-BE49-F238E27FC236}">
                <a16:creationId xmlns:a16="http://schemas.microsoft.com/office/drawing/2014/main" id="{84E23D5D-9866-48F9-8E08-DD2DBE4C4E3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32296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2">
            <a:extLst>
              <a:ext uri="{FF2B5EF4-FFF2-40B4-BE49-F238E27FC236}">
                <a16:creationId xmlns:a16="http://schemas.microsoft.com/office/drawing/2014/main" id="{E671C9E6-A1A5-4EE5-8642-94AA7635DB0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02920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2">
            <a:extLst>
              <a:ext uri="{FF2B5EF4-FFF2-40B4-BE49-F238E27FC236}">
                <a16:creationId xmlns:a16="http://schemas.microsoft.com/office/drawing/2014/main" id="{DF6BB5C9-B678-435A-830F-4C10EB1A95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275110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2">
            <a:extLst>
              <a:ext uri="{FF2B5EF4-FFF2-40B4-BE49-F238E27FC236}">
                <a16:creationId xmlns:a16="http://schemas.microsoft.com/office/drawing/2014/main" id="{1861EC87-A9E2-4FC3-B8BC-06C520B8A17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27511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2">
            <a:extLst>
              <a:ext uri="{FF2B5EF4-FFF2-40B4-BE49-F238E27FC236}">
                <a16:creationId xmlns:a16="http://schemas.microsoft.com/office/drawing/2014/main" id="{FC3EDE91-631F-4947-94DC-557685FD23E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517923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2">
            <a:extLst>
              <a:ext uri="{FF2B5EF4-FFF2-40B4-BE49-F238E27FC236}">
                <a16:creationId xmlns:a16="http://schemas.microsoft.com/office/drawing/2014/main" id="{8FDDBEF4-1329-49DF-B043-D51B34F5EE3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51792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Picture Placeholder 36">
            <a:extLst>
              <a:ext uri="{FF2B5EF4-FFF2-40B4-BE49-F238E27FC236}">
                <a16:creationId xmlns:a16="http://schemas.microsoft.com/office/drawing/2014/main" id="{FBDB3FD3-4F52-4E28-B639-5F73070E47D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78337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58848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DFA57703-9E4A-48E0-A123-3A5EDC76475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Rectangle 1" descr="Tall office building looking up">
            <a:extLst>
              <a:ext uri="{FF2B5EF4-FFF2-40B4-BE49-F238E27FC236}">
                <a16:creationId xmlns:a16="http://schemas.microsoft.com/office/drawing/2014/main" id="{AF7FA146-2A75-4EA7-A9AD-EBCE6F17FB42}"/>
              </a:ext>
            </a:extLst>
          </p:cNvPr>
          <p:cNvSpPr/>
          <p:nvPr userDrawn="1"/>
        </p:nvSpPr>
        <p:spPr>
          <a:xfrm>
            <a:off x="3718560" y="1181123"/>
            <a:ext cx="4754880" cy="4495754"/>
          </a:xfrm>
          <a:prstGeom prst="rect">
            <a:avLst/>
          </a:prstGeom>
          <a:solidFill>
            <a:schemeClr val="accent5">
              <a:alpha val="40000"/>
            </a:schemeClr>
          </a:solidFill>
          <a:ln w="6032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340C15AA-E296-48AE-857F-0589EEA69D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49139" y="4859469"/>
            <a:ext cx="3924934" cy="490538"/>
          </a:xfrm>
          <a:prstGeom prst="rect">
            <a:avLst/>
          </a:prstGeom>
        </p:spPr>
        <p:txBody>
          <a:bodyPr/>
          <a:lstStyle>
            <a:lvl1pPr algn="r">
              <a:buNone/>
              <a:defRPr lang="en-US" sz="2400" b="1" kern="1200" dirty="0" smtClean="0">
                <a:solidFill>
                  <a:schemeClr val="accent4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62BE5D7-9E35-49F8-A8E4-2093183A6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9139" y="1529685"/>
            <a:ext cx="3924934" cy="1695637"/>
          </a:xfrm>
          <a:prstGeom prst="rect">
            <a:avLst/>
          </a:prstGeom>
        </p:spPr>
        <p:txBody>
          <a:bodyPr/>
          <a:lstStyle>
            <a:lvl1pPr>
              <a:spcBef>
                <a:spcPts val="1000"/>
              </a:spcBef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39956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9/4/2026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2CD6B789-4B66-4BD0-9623-80E9542A65FE}"/>
              </a:ext>
            </a:extLst>
          </p:cNvPr>
          <p:cNvSpPr txBox="1">
            <a:spLocks/>
          </p:cNvSpPr>
          <p:nvPr userDrawn="1"/>
        </p:nvSpPr>
        <p:spPr>
          <a:xfrm>
            <a:off x="660396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7BD5F78-1C10-49D6-8616-C9F20406C112}" type="datetime1">
              <a:rPr lang="en-US" sz="1100" smtClean="0">
                <a:solidFill>
                  <a:schemeClr val="accent2"/>
                </a:solidFill>
              </a:rPr>
              <a:pPr/>
              <a:t>9/4/2026</a:t>
            </a:fld>
            <a:endParaRPr lang="en-US" sz="1100" dirty="0">
              <a:solidFill>
                <a:schemeClr val="accent2"/>
              </a:solidFill>
            </a:endParaRPr>
          </a:p>
        </p:txBody>
      </p:sp>
      <p:sp>
        <p:nvSpPr>
          <p:cNvPr id="29" name="Footer Placeholder 4">
            <a:extLst>
              <a:ext uri="{FF2B5EF4-FFF2-40B4-BE49-F238E27FC236}">
                <a16:creationId xmlns:a16="http://schemas.microsoft.com/office/drawing/2014/main" id="{A3BB5234-44A4-4506-BD19-5808475EBB7F}"/>
              </a:ext>
            </a:extLst>
          </p:cNvPr>
          <p:cNvSpPr txBox="1">
            <a:spLocks/>
          </p:cNvSpPr>
          <p:nvPr userDrawn="1"/>
        </p:nvSpPr>
        <p:spPr>
          <a:xfrm>
            <a:off x="1445526" y="6378906"/>
            <a:ext cx="41148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b="1" dirty="0">
                <a:solidFill>
                  <a:schemeClr val="accent2"/>
                </a:solidFill>
              </a:rPr>
              <a:t>Annual Review</a:t>
            </a:r>
          </a:p>
        </p:txBody>
      </p:sp>
      <p:sp>
        <p:nvSpPr>
          <p:cNvPr id="30" name="Slide Number Placeholder 5">
            <a:extLst>
              <a:ext uri="{FF2B5EF4-FFF2-40B4-BE49-F238E27FC236}">
                <a16:creationId xmlns:a16="http://schemas.microsoft.com/office/drawing/2014/main" id="{68D89618-7EE9-46BF-BEAC-45E6F98ACA1A}"/>
              </a:ext>
            </a:extLst>
          </p:cNvPr>
          <p:cNvSpPr txBox="1">
            <a:spLocks/>
          </p:cNvSpPr>
          <p:nvPr userDrawn="1"/>
        </p:nvSpPr>
        <p:spPr>
          <a:xfrm>
            <a:off x="8805338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2C18C1E5-FB55-42F5-BD6D-9CC153FCDBE6}" type="slidenum">
              <a:rPr lang="en-US" sz="1100" smtClean="0">
                <a:solidFill>
                  <a:schemeClr val="accent4"/>
                </a:solidFill>
              </a:rPr>
              <a:pPr algn="r"/>
              <a:t>‹#›</a:t>
            </a:fld>
            <a:endParaRPr lang="en-US" sz="11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4259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9" r:id="rId2"/>
    <p:sldLayoutId id="2147483750" r:id="rId3"/>
    <p:sldLayoutId id="2147483751" r:id="rId4"/>
    <p:sldLayoutId id="2147483752" r:id="rId5"/>
    <p:sldLayoutId id="2147483753" r:id="rId6"/>
    <p:sldLayoutId id="2147483754" r:id="rId7"/>
    <p:sldLayoutId id="2147483755" r:id="rId8"/>
    <p:sldLayoutId id="2147483756" r:id="rId9"/>
    <p:sldLayoutId id="2147483757" r:id="rId10"/>
    <p:sldLayoutId id="2147483758" r:id="rId11"/>
    <p:sldLayoutId id="2147483759" r:id="rId12"/>
    <p:sldLayoutId id="2147483760" r:id="rId13"/>
    <p:sldLayoutId id="2147483761" r:id="rId14"/>
    <p:sldLayoutId id="2147483762" r:id="rId15"/>
    <p:sldLayoutId id="2147483763" r:id="rId16"/>
    <p:sldLayoutId id="2147483764" r:id="rId17"/>
    <p:sldLayoutId id="2147483765" r:id="rId18"/>
    <p:sldLayoutId id="2147483766" r:id="rId19"/>
    <p:sldLayoutId id="2147483769" r:id="rId20"/>
    <p:sldLayoutId id="2147483690" r:id="rId21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fi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ukeshsg/seasonal-agriculture-performance-analysis" TargetMode="External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14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201737A-B873-4D1D-8A41-5ABF5184BC8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75957" y="4002293"/>
            <a:ext cx="10099403" cy="861497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IN" sz="2200" dirty="0">
                <a:solidFill>
                  <a:schemeClr val="tx1"/>
                </a:solidFill>
              </a:rPr>
              <a:t>RUKESH S G</a:t>
            </a:r>
          </a:p>
          <a:p>
            <a:r>
              <a:rPr lang="en-IN" sz="2200" b="0" dirty="0">
                <a:solidFill>
                  <a:schemeClr val="tx1"/>
                </a:solidFill>
              </a:rPr>
              <a:t>Vel Tech High Tech </a:t>
            </a:r>
            <a:r>
              <a:rPr lang="en-IN" sz="2200" b="0" dirty="0" err="1">
                <a:solidFill>
                  <a:schemeClr val="tx1"/>
                </a:solidFill>
              </a:rPr>
              <a:t>Dr.Rangarajan</a:t>
            </a:r>
            <a:r>
              <a:rPr lang="en-IN" sz="2200" b="0" dirty="0">
                <a:solidFill>
                  <a:schemeClr val="tx1"/>
                </a:solidFill>
              </a:rPr>
              <a:t> </a:t>
            </a:r>
            <a:r>
              <a:rPr lang="en-IN" sz="2200" b="0" dirty="0" err="1">
                <a:solidFill>
                  <a:schemeClr val="tx1"/>
                </a:solidFill>
              </a:rPr>
              <a:t>Dr.Sakunthala</a:t>
            </a:r>
            <a:r>
              <a:rPr lang="en-IN" sz="2200" b="0" dirty="0">
                <a:solidFill>
                  <a:schemeClr val="tx1"/>
                </a:solidFill>
              </a:rPr>
              <a:t> Engineering College (An Autonomous Institution)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2056599-CDAA-4367-BEF8-31D6E3251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363" y="2844750"/>
            <a:ext cx="8204379" cy="941806"/>
          </a:xfrm>
        </p:spPr>
        <p:txBody>
          <a:bodyPr>
            <a:normAutofit/>
          </a:bodyPr>
          <a:lstStyle/>
          <a:p>
            <a:r>
              <a:rPr lang="en-IN" sz="3200" dirty="0"/>
              <a:t>Seasonal Agriculture Performance Analysis</a:t>
            </a:r>
          </a:p>
        </p:txBody>
      </p:sp>
      <p:sp>
        <p:nvSpPr>
          <p:cNvPr id="15" name="Text Placeholder 1">
            <a:extLst>
              <a:ext uri="{FF2B5EF4-FFF2-40B4-BE49-F238E27FC236}">
                <a16:creationId xmlns:a16="http://schemas.microsoft.com/office/drawing/2014/main" id="{824B8A32-9AB3-457E-82E1-C85D3203CE35}"/>
              </a:ext>
            </a:extLst>
          </p:cNvPr>
          <p:cNvSpPr txBox="1">
            <a:spLocks/>
          </p:cNvSpPr>
          <p:nvPr/>
        </p:nvSpPr>
        <p:spPr>
          <a:xfrm>
            <a:off x="6400800" y="2794001"/>
            <a:ext cx="3312160" cy="8614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1" kern="120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30DEFF0-8DEE-4B0B-9B30-675FE9E288A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7F04107-8754-E47D-3375-529E689711FA}"/>
              </a:ext>
            </a:extLst>
          </p:cNvPr>
          <p:cNvSpPr txBox="1"/>
          <p:nvPr/>
        </p:nvSpPr>
        <p:spPr>
          <a:xfrm>
            <a:off x="675957" y="5941026"/>
            <a:ext cx="6084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AICTE STU ID :</a:t>
            </a:r>
            <a:r>
              <a:rPr lang="en-IN" b="1" dirty="0"/>
              <a:t> STU6a69822e048c31785299502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604013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  <p:bldP spid="1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46E4DD1-270B-4C80-AFF0-EB26F132AF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54602" y="1747156"/>
            <a:ext cx="7883212" cy="4724763"/>
          </a:xfrm>
        </p:spPr>
        <p:txBody>
          <a:bodyPr vert="horz" lIns="91440" tIns="45720" rIns="91440" bIns="45720" rtlCol="0" anchor="t">
            <a:normAutofit fontScale="70000" lnSpcReduction="20000"/>
          </a:bodyPr>
          <a:lstStyle/>
          <a:p>
            <a:pPr marL="0" indent="0">
              <a:buNone/>
            </a:pPr>
            <a:r>
              <a:rPr lang="en-IN" sz="2800" b="1" dirty="0"/>
              <a:t>Agricultural performance changes across Kharif, Rabi, and Zaid seasons due to differences in rainfall, temperature, humidity, irrigation, farming inputs, costs, and market prices.</a:t>
            </a:r>
            <a:endParaRPr lang="en-IN" sz="2800" dirty="0"/>
          </a:p>
          <a:p>
            <a:pPr marL="0" indent="0">
              <a:buNone/>
            </a:pPr>
            <a:r>
              <a:rPr lang="en-IN" sz="2800" dirty="0"/>
              <a:t>The raw farm data does not clearly show how these factors affect:</a:t>
            </a:r>
          </a:p>
          <a:p>
            <a:pPr lvl="0"/>
            <a:r>
              <a:rPr lang="en-IN" sz="2800" dirty="0"/>
              <a:t>Crop yield and production </a:t>
            </a:r>
          </a:p>
          <a:p>
            <a:pPr lvl="0"/>
            <a:r>
              <a:rPr lang="en-IN" sz="2800" dirty="0"/>
              <a:t>Resource and irrigation efficiency </a:t>
            </a:r>
          </a:p>
          <a:p>
            <a:pPr lvl="0"/>
            <a:r>
              <a:rPr lang="en-IN" sz="2800" dirty="0"/>
              <a:t>Farm profitability </a:t>
            </a:r>
          </a:p>
          <a:p>
            <a:pPr lvl="0"/>
            <a:r>
              <a:rPr lang="en-IN" sz="2800" dirty="0"/>
              <a:t>Pest and disease risk </a:t>
            </a:r>
          </a:p>
          <a:p>
            <a:pPr lvl="0"/>
            <a:r>
              <a:rPr lang="en-IN" sz="2800" dirty="0"/>
              <a:t>Suitable crop–season combinations </a:t>
            </a:r>
          </a:p>
          <a:p>
            <a:pPr marL="0" indent="0">
              <a:buNone/>
            </a:pPr>
            <a:r>
              <a:rPr lang="en-IN" sz="2800" b="1" dirty="0"/>
              <a:t>Problem:</a:t>
            </a:r>
            <a:br>
              <a:rPr lang="en-IN" sz="2800" dirty="0"/>
            </a:br>
            <a:r>
              <a:rPr lang="en-IN" sz="2800" dirty="0"/>
              <a:t>	</a:t>
            </a:r>
            <a:r>
              <a:rPr lang="en-IN" sz="2800" dirty="0" err="1"/>
              <a:t>Analyze</a:t>
            </a:r>
            <a:r>
              <a:rPr lang="en-IN" sz="2800" dirty="0"/>
              <a:t> the agricultural data to identify seasonal patterns and understand how environmental conditions, farming practices, and farm size influence productivity and profitability. </a:t>
            </a:r>
          </a:p>
          <a:p>
            <a:pPr>
              <a:lnSpc>
                <a:spcPct val="150000"/>
              </a:lnSpc>
            </a:pPr>
            <a:endParaRPr lang="en-IN" sz="280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77CC02B-F7C6-47A8-8C3E-C57C417D9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4602" y="550417"/>
            <a:ext cx="6995604" cy="790111"/>
          </a:xfrm>
        </p:spPr>
        <p:txBody>
          <a:bodyPr>
            <a:normAutofit fontScale="90000"/>
          </a:bodyPr>
          <a:lstStyle/>
          <a:p>
            <a:r>
              <a:rPr lang="en-US" dirty="0"/>
              <a:t>PROBLEM  STATEMENT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FE02DE-D7B2-433D-BFE4-2F564022AD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5684" y="2930834"/>
            <a:ext cx="2760758" cy="326440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36DEFE3-051A-494A-949C-BB2FF86F9ED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548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BF2FBC7-3552-4F01-BB27-8BEEE74F7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805213"/>
            <a:ext cx="6276109" cy="830997"/>
          </a:xfrm>
        </p:spPr>
        <p:txBody>
          <a:bodyPr>
            <a:normAutofit fontScale="90000"/>
          </a:bodyPr>
          <a:lstStyle/>
          <a:p>
            <a:r>
              <a:rPr lang="en-GB" dirty="0"/>
              <a:t>Project Description</a:t>
            </a:r>
            <a:br>
              <a:rPr lang="en-GB" dirty="0"/>
            </a:br>
            <a:br>
              <a:rPr lang="en-GB" dirty="0"/>
            </a:b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D8A2BA-6C1D-4A33-85F2-E44A4FF54A1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BED3D6A-DC10-4985-B01B-735F2CBA6E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8C243A3-D5A3-FFA6-4FFD-DED43F123318}"/>
              </a:ext>
            </a:extLst>
          </p:cNvPr>
          <p:cNvSpPr txBox="1"/>
          <p:nvPr/>
        </p:nvSpPr>
        <p:spPr>
          <a:xfrm>
            <a:off x="675957" y="2008414"/>
            <a:ext cx="8321086" cy="43704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 dirty="0"/>
              <a:t>Seasonal Agriculture Performance Analysis</a:t>
            </a:r>
            <a:r>
              <a:rPr lang="en-IN" sz="2000" dirty="0"/>
              <a:t> is a data analytics project that studies how agricultural performance changes across the </a:t>
            </a:r>
            <a:r>
              <a:rPr lang="en-IN" sz="2000" b="1" dirty="0"/>
              <a:t>Kharif, Rabi, and Zaid</a:t>
            </a:r>
            <a:r>
              <a:rPr lang="en-IN" sz="2000" dirty="0"/>
              <a:t> seasons.</a:t>
            </a:r>
          </a:p>
          <a:p>
            <a:r>
              <a:rPr lang="en-IN" sz="2000" dirty="0"/>
              <a:t>The project uses </a:t>
            </a:r>
            <a:r>
              <a:rPr lang="en-IN" sz="2000" b="1" dirty="0"/>
              <a:t>4,000 farm records with 28 variables</a:t>
            </a:r>
            <a:r>
              <a:rPr lang="en-IN" sz="2000" dirty="0"/>
              <a:t> covering: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IN" sz="2000" dirty="0"/>
              <a:t>Crop and seasonal information 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IN" sz="2000" dirty="0"/>
              <a:t>Weather and soil conditions 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IN" sz="2000" dirty="0"/>
              <a:t>Irrigation and farming inputs 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IN" sz="2000" dirty="0"/>
              <a:t>Production and yield 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IN" sz="2000" dirty="0"/>
              <a:t>Cost, revenue, and profit </a:t>
            </a:r>
          </a:p>
          <a:p>
            <a:r>
              <a:rPr lang="en-IN" sz="2000" dirty="0"/>
              <a:t>Using Python-based data analysis and visualizations, the project identifies </a:t>
            </a:r>
            <a:r>
              <a:rPr lang="en-IN" sz="2000" b="1" dirty="0"/>
              <a:t>seasonal performance patterns, productivity factors, resource efficiency, and profitability differences</a:t>
            </a:r>
            <a:r>
              <a:rPr lang="en-IN" sz="2000" dirty="0"/>
              <a:t> to support better agricultural planning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3696770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64E3B60-2780-459A-8583-F095D5E746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21359" y="1737598"/>
            <a:ext cx="8406312" cy="4243785"/>
          </a:xfrm>
        </p:spPr>
        <p:txBody>
          <a:bodyPr>
            <a:noAutofit/>
          </a:bodyPr>
          <a:lstStyle/>
          <a:p>
            <a:pPr lvl="0"/>
            <a:r>
              <a:rPr lang="en-IN" sz="1800" b="1" dirty="0"/>
              <a:t>Farmers</a:t>
            </a:r>
            <a:r>
              <a:rPr lang="en-IN" sz="1800" dirty="0"/>
              <a:t> – To compare crop performance, seasonal yield, irrigation efficiency, and profitability. </a:t>
            </a:r>
          </a:p>
          <a:p>
            <a:pPr lvl="0"/>
            <a:r>
              <a:rPr lang="en-IN" sz="1800" b="1" dirty="0"/>
              <a:t>Agricultural Planners</a:t>
            </a:r>
            <a:r>
              <a:rPr lang="en-IN" sz="1800" dirty="0"/>
              <a:t> – To understand seasonal trends and support crop planning decisions. </a:t>
            </a:r>
          </a:p>
          <a:p>
            <a:pPr lvl="0"/>
            <a:r>
              <a:rPr lang="en-IN" sz="1800" b="1" dirty="0"/>
              <a:t>Agriculture Departments</a:t>
            </a:r>
            <a:r>
              <a:rPr lang="en-IN" sz="1800" dirty="0"/>
              <a:t> – To identify seasonal risks and improve resource allocation. </a:t>
            </a:r>
          </a:p>
          <a:p>
            <a:pPr lvl="0"/>
            <a:r>
              <a:rPr lang="en-IN" sz="1800" b="1" dirty="0"/>
              <a:t>Agribusiness &amp; Farm Managers</a:t>
            </a:r>
            <a:r>
              <a:rPr lang="en-IN" sz="1800" dirty="0"/>
              <a:t> – To evaluate production costs, returns, and suitable crop-season combinations. </a:t>
            </a:r>
          </a:p>
          <a:p>
            <a:pPr lvl="0"/>
            <a:r>
              <a:rPr lang="en-IN" sz="1800" b="1" dirty="0"/>
              <a:t>Researchers &amp; Analysts</a:t>
            </a:r>
            <a:r>
              <a:rPr lang="en-IN" sz="1800" dirty="0"/>
              <a:t> – To study relationships between environmental factors and agricultural performance. </a:t>
            </a:r>
          </a:p>
          <a:p>
            <a:pPr marL="0" indent="0">
              <a:buNone/>
            </a:pPr>
            <a:br>
              <a:rPr lang="en-IN" sz="1800" dirty="0"/>
            </a:br>
            <a:r>
              <a:rPr lang="en-IN" sz="1800" i="1" dirty="0"/>
              <a:t>The analysis helps different agricultural stakeholders make better decisions using farm-level data.</a:t>
            </a:r>
            <a:endParaRPr lang="en-IN" sz="1800" dirty="0"/>
          </a:p>
          <a:p>
            <a:pPr algn="just">
              <a:lnSpc>
                <a:spcPct val="150000"/>
              </a:lnSpc>
            </a:pPr>
            <a:endParaRPr lang="en-IN" sz="180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A4A072B-83C6-4607-AE6A-5AD61CC72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008" y="876617"/>
            <a:ext cx="10046070" cy="802641"/>
          </a:xfrm>
        </p:spPr>
        <p:txBody>
          <a:bodyPr>
            <a:normAutofit/>
          </a:bodyPr>
          <a:lstStyle/>
          <a:p>
            <a:r>
              <a:rPr lang="en-US" sz="3200" dirty="0"/>
              <a:t>WHO ARE THE END USERS?</a:t>
            </a:r>
            <a:endParaRPr lang="en-IN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8B153BB-61B9-403F-8AE5-F75400450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359" y="6176804"/>
            <a:ext cx="2181225" cy="485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075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B7C27C4-3E14-490A-B132-CBBEDA1E90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1FC3E39-8C60-4F64-9838-2A683F25B8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50800" y="3820160"/>
            <a:ext cx="1727200" cy="3010024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21C28F5-3CA3-4B78-B5C9-550C00BB31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582149" y="1526177"/>
            <a:ext cx="9027702" cy="5243448"/>
          </a:xfrm>
        </p:spPr>
        <p:txBody>
          <a:bodyPr numCol="2">
            <a:normAutofit fontScale="92500" lnSpcReduction="20000"/>
          </a:bodyPr>
          <a:lstStyle/>
          <a:p>
            <a:pPr marL="0" indent="0">
              <a:buNone/>
            </a:pPr>
            <a:r>
              <a:rPr lang="en-IN" b="1" dirty="0"/>
              <a:t>Programming Language</a:t>
            </a:r>
            <a:endParaRPr lang="en-IN" dirty="0"/>
          </a:p>
          <a:p>
            <a:pPr lvl="0"/>
            <a:r>
              <a:rPr lang="en-IN" dirty="0"/>
              <a:t>Python </a:t>
            </a:r>
          </a:p>
          <a:p>
            <a:pPr marL="0" indent="0">
              <a:buNone/>
            </a:pPr>
            <a:r>
              <a:rPr lang="en-IN" b="1" dirty="0"/>
              <a:t>Libraries</a:t>
            </a:r>
            <a:endParaRPr lang="en-IN" dirty="0"/>
          </a:p>
          <a:p>
            <a:pPr lvl="0"/>
            <a:r>
              <a:rPr lang="en-IN" dirty="0"/>
              <a:t>Pandas – Data handling and analysis </a:t>
            </a:r>
          </a:p>
          <a:p>
            <a:pPr lvl="0"/>
            <a:r>
              <a:rPr lang="en-IN" dirty="0"/>
              <a:t>NumPy – Numerical calculations </a:t>
            </a:r>
          </a:p>
          <a:p>
            <a:pPr lvl="0"/>
            <a:r>
              <a:rPr lang="en-IN" dirty="0"/>
              <a:t>Matplotlib – Data visualization </a:t>
            </a:r>
          </a:p>
          <a:p>
            <a:pPr lvl="0"/>
            <a:r>
              <a:rPr lang="en-IN" dirty="0"/>
              <a:t>Seaborn – Statistical visualizations </a:t>
            </a:r>
          </a:p>
          <a:p>
            <a:pPr marL="0" indent="0">
              <a:buNone/>
            </a:pPr>
            <a:r>
              <a:rPr lang="en-IN" b="1" dirty="0"/>
              <a:t>Development Environment</a:t>
            </a:r>
            <a:endParaRPr lang="en-IN" dirty="0"/>
          </a:p>
          <a:p>
            <a:pPr lvl="0"/>
            <a:r>
              <a:rPr lang="en-IN" dirty="0"/>
              <a:t>Jupyter Notebook </a:t>
            </a:r>
          </a:p>
          <a:p>
            <a:pPr marL="0" indent="0">
              <a:buNone/>
            </a:pPr>
            <a:endParaRPr lang="en-IN" b="1" dirty="0"/>
          </a:p>
          <a:p>
            <a:pPr marL="0" indent="0">
              <a:buNone/>
            </a:pPr>
            <a:r>
              <a:rPr lang="en-IN" b="1" dirty="0"/>
              <a:t>Techniques Used</a:t>
            </a:r>
            <a:endParaRPr lang="en-IN" dirty="0"/>
          </a:p>
          <a:p>
            <a:pPr lvl="0"/>
            <a:r>
              <a:rPr lang="en-IN" dirty="0"/>
              <a:t>Data Cleaning </a:t>
            </a:r>
          </a:p>
          <a:p>
            <a:pPr lvl="0"/>
            <a:r>
              <a:rPr lang="en-IN" dirty="0"/>
              <a:t>Exploratory Data Analysis (EDA) </a:t>
            </a:r>
          </a:p>
          <a:p>
            <a:pPr lvl="0"/>
            <a:r>
              <a:rPr lang="en-IN" dirty="0"/>
              <a:t>Statistical Analysis </a:t>
            </a:r>
          </a:p>
          <a:p>
            <a:pPr lvl="0"/>
            <a:r>
              <a:rPr lang="en-IN" dirty="0"/>
              <a:t>Correlation Analysis </a:t>
            </a:r>
          </a:p>
          <a:p>
            <a:pPr lvl="0"/>
            <a:r>
              <a:rPr lang="en-IN" dirty="0"/>
              <a:t>Data Visualization </a:t>
            </a:r>
          </a:p>
          <a:p>
            <a:pPr lvl="0"/>
            <a:r>
              <a:rPr lang="en-IN" dirty="0"/>
              <a:t>Seasonal Comparison </a:t>
            </a:r>
          </a:p>
          <a:p>
            <a:pPr lvl="0"/>
            <a:r>
              <a:rPr lang="en-IN" dirty="0" err="1"/>
              <a:t>AgriScore</a:t>
            </a:r>
            <a:r>
              <a:rPr lang="en-IN" dirty="0"/>
              <a:t> Crop Suitability Analysis</a:t>
            </a:r>
          </a:p>
          <a:p>
            <a:pPr lvl="1">
              <a:lnSpc>
                <a:spcPct val="150000"/>
              </a:lnSpc>
            </a:pPr>
            <a:endParaRPr lang="en-IN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FEF304F5-32C5-4869-B185-859B56785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430567"/>
            <a:ext cx="5306291" cy="847817"/>
          </a:xfrm>
        </p:spPr>
        <p:txBody>
          <a:bodyPr>
            <a:normAutofit/>
          </a:bodyPr>
          <a:lstStyle/>
          <a:p>
            <a:r>
              <a:rPr lang="en-US" dirty="0"/>
              <a:t>Technology Used</a:t>
            </a:r>
          </a:p>
        </p:txBody>
      </p:sp>
    </p:spTree>
    <p:extLst>
      <p:ext uri="{BB962C8B-B14F-4D97-AF65-F5344CB8AC3E}">
        <p14:creationId xmlns:p14="http://schemas.microsoft.com/office/powerpoint/2010/main" val="1341901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10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1000" fill="hold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1000" fill="hold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1000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1000" fill="hold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1000" fill="hold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1000"/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1000" fill="hold"/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1000" fill="hold"/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1000"/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2" dur="1000" fill="hold"/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1000" fill="hold"/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1000"/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9" dur="1000" fill="hold"/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" dur="1000" fill="hold"/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1000"/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1000" fill="hold"/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1000" fill="hold"/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1000"/>
                                        <p:tgtEl>
                                          <p:spTgt spid="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1000" fill="hold"/>
                                        <p:tgtEl>
                                          <p:spTgt spid="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1000" fill="hold"/>
                                        <p:tgtEl>
                                          <p:spTgt spid="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1000"/>
                                        <p:tgtEl>
                                          <p:spTgt spid="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0" dur="1000" fill="hold"/>
                                        <p:tgtEl>
                                          <p:spTgt spid="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1" dur="1000" fill="hold"/>
                                        <p:tgtEl>
                                          <p:spTgt spid="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2" fill="hold">
                      <p:stCondLst>
                        <p:cond delay="indefinite"/>
                      </p:stCondLst>
                      <p:childTnLst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1000"/>
                                        <p:tgtEl>
                                          <p:spTgt spid="7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7" dur="1000" fill="hold"/>
                                        <p:tgtEl>
                                          <p:spTgt spid="7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8" dur="1000" fill="hold"/>
                                        <p:tgtEl>
                                          <p:spTgt spid="7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BB0C869-7C5C-4070-BD4D-F3FC2DA8F3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AFE3A2AF-177E-45E6-A191-0F8523DB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372426BE-BEE7-4A6D-BCD2-059615BBCE25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E61E227A-5883-4C77-B25A-46A22FFDF41F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06171EA-9561-F591-E1B6-6D208C2331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7862" y="1275371"/>
            <a:ext cx="6783156" cy="48133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3C94894-80DD-0240-FFD0-C2EB367DDF87}"/>
              </a:ext>
            </a:extLst>
          </p:cNvPr>
          <p:cNvSpPr txBox="1"/>
          <p:nvPr/>
        </p:nvSpPr>
        <p:spPr>
          <a:xfrm>
            <a:off x="401562" y="1288128"/>
            <a:ext cx="4686300" cy="54538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800" b="1" i="0" dirty="0">
                <a:solidFill>
                  <a:schemeClr val="tx1"/>
                </a:solidFill>
                <a:effectLst/>
                <a:latin typeface="Aptos" panose="020B0004020202020204" pitchFamily="34" charset="0"/>
              </a:rPr>
              <a:t>Dataset Distribution:</a:t>
            </a:r>
            <a:r>
              <a:rPr lang="en-IN" sz="1800" b="0" i="0" dirty="0">
                <a:solidFill>
                  <a:schemeClr val="tx1"/>
                </a:solidFill>
                <a:effectLst/>
                <a:latin typeface="Aptos" panose="020B0004020202020204" pitchFamily="34" charset="0"/>
              </a:rPr>
              <a:t> </a:t>
            </a:r>
            <a:r>
              <a:rPr lang="en-IN" sz="1800" b="0" i="0" dirty="0" err="1">
                <a:solidFill>
                  <a:schemeClr val="tx1"/>
                </a:solidFill>
                <a:effectLst/>
                <a:latin typeface="Aptos" panose="020B0004020202020204" pitchFamily="34" charset="0"/>
              </a:rPr>
              <a:t>Analyzed</a:t>
            </a:r>
            <a:r>
              <a:rPr lang="en-IN" sz="1800" b="0" i="0" dirty="0">
                <a:solidFill>
                  <a:schemeClr val="tx1"/>
                </a:solidFill>
                <a:effectLst/>
                <a:latin typeface="Aptos" panose="020B0004020202020204" pitchFamily="34" charset="0"/>
              </a:rPr>
              <a:t> 4,000 farm records — Kharif represents </a:t>
            </a:r>
            <a:r>
              <a:rPr lang="en-IN" sz="1800" b="1" i="0" dirty="0">
                <a:solidFill>
                  <a:schemeClr val="tx1"/>
                </a:solidFill>
                <a:effectLst/>
                <a:latin typeface="Aptos" panose="020B0004020202020204" pitchFamily="34" charset="0"/>
              </a:rPr>
              <a:t>44.5%</a:t>
            </a:r>
            <a:r>
              <a:rPr lang="en-IN" sz="1800" b="0" i="0" dirty="0">
                <a:solidFill>
                  <a:schemeClr val="tx1"/>
                </a:solidFill>
                <a:effectLst/>
                <a:latin typeface="Aptos" panose="020B0004020202020204" pitchFamily="34" charset="0"/>
              </a:rPr>
              <a:t> (1,779 farms), Rabi </a:t>
            </a:r>
            <a:r>
              <a:rPr lang="en-IN" sz="1800" b="1" i="0" dirty="0">
                <a:solidFill>
                  <a:schemeClr val="tx1"/>
                </a:solidFill>
                <a:effectLst/>
                <a:latin typeface="Aptos" panose="020B0004020202020204" pitchFamily="34" charset="0"/>
              </a:rPr>
              <a:t>40.7%</a:t>
            </a:r>
            <a:r>
              <a:rPr lang="en-IN" sz="1800" b="0" i="0" dirty="0">
                <a:solidFill>
                  <a:schemeClr val="tx1"/>
                </a:solidFill>
                <a:effectLst/>
                <a:latin typeface="Aptos" panose="020B0004020202020204" pitchFamily="34" charset="0"/>
              </a:rPr>
              <a:t> (1,627 farms), and Zaid </a:t>
            </a:r>
            <a:r>
              <a:rPr lang="en-IN" sz="1800" b="1" i="0" dirty="0">
                <a:solidFill>
                  <a:schemeClr val="tx1"/>
                </a:solidFill>
                <a:effectLst/>
                <a:latin typeface="Aptos" panose="020B0004020202020204" pitchFamily="34" charset="0"/>
              </a:rPr>
              <a:t>14.8%</a:t>
            </a:r>
            <a:r>
              <a:rPr lang="en-IN" sz="1800" b="0" i="0" dirty="0">
                <a:solidFill>
                  <a:schemeClr val="tx1"/>
                </a:solidFill>
                <a:effectLst/>
                <a:latin typeface="Aptos" panose="020B0004020202020204" pitchFamily="34" charset="0"/>
              </a:rPr>
              <a:t> (594 farms).</a:t>
            </a:r>
          </a:p>
          <a:p>
            <a:pPr marL="342900" lvl="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800" b="1" i="0" dirty="0">
                <a:solidFill>
                  <a:schemeClr val="tx1"/>
                </a:solidFill>
                <a:effectLst/>
                <a:latin typeface="Aptos" panose="020B0004020202020204" pitchFamily="34" charset="0"/>
              </a:rPr>
              <a:t>Crop Diversity:</a:t>
            </a:r>
            <a:r>
              <a:rPr lang="en-IN" sz="1800" b="0" i="0" dirty="0">
                <a:solidFill>
                  <a:schemeClr val="tx1"/>
                </a:solidFill>
                <a:effectLst/>
                <a:latin typeface="Aptos" panose="020B0004020202020204" pitchFamily="34" charset="0"/>
              </a:rPr>
              <a:t> Rice (690) and Wheat (614) represent the largest staple holdings, while Sugarcane and Chilli represent high-value cash crops.</a:t>
            </a:r>
          </a:p>
          <a:p>
            <a:pPr marL="342900" lvl="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800" b="1" i="0" dirty="0">
                <a:solidFill>
                  <a:schemeClr val="tx1"/>
                </a:solidFill>
                <a:effectLst/>
                <a:latin typeface="Aptos" panose="020B0004020202020204" pitchFamily="34" charset="0"/>
              </a:rPr>
              <a:t>Baseline Metrics:</a:t>
            </a:r>
            <a:r>
              <a:rPr lang="en-IN" sz="1800" b="0" i="0" dirty="0">
                <a:solidFill>
                  <a:schemeClr val="tx1"/>
                </a:solidFill>
                <a:effectLst/>
                <a:latin typeface="Aptos" panose="020B0004020202020204" pitchFamily="34" charset="0"/>
              </a:rPr>
              <a:t> Overall mean agricultural yield is </a:t>
            </a:r>
            <a:r>
              <a:rPr lang="en-IN" sz="1800" b="1" i="0" dirty="0">
                <a:solidFill>
                  <a:schemeClr val="tx1"/>
                </a:solidFill>
                <a:effectLst/>
                <a:latin typeface="Aptos" panose="020B0004020202020204" pitchFamily="34" charset="0"/>
              </a:rPr>
              <a:t>5.22 t/ha</a:t>
            </a:r>
            <a:r>
              <a:rPr lang="en-IN" sz="1800" b="0" i="0" dirty="0">
                <a:solidFill>
                  <a:schemeClr val="tx1"/>
                </a:solidFill>
                <a:effectLst/>
                <a:latin typeface="Aptos" panose="020B0004020202020204" pitchFamily="34" charset="0"/>
              </a:rPr>
              <a:t>, mean rainfall is </a:t>
            </a:r>
            <a:r>
              <a:rPr lang="en-IN" sz="1800" b="1" i="0" dirty="0">
                <a:solidFill>
                  <a:schemeClr val="tx1"/>
                </a:solidFill>
                <a:effectLst/>
                <a:latin typeface="Aptos" panose="020B0004020202020204" pitchFamily="34" charset="0"/>
              </a:rPr>
              <a:t>600.9 mm</a:t>
            </a:r>
            <a:r>
              <a:rPr lang="en-IN" sz="1800" b="0" i="0" dirty="0">
                <a:solidFill>
                  <a:schemeClr val="tx1"/>
                </a:solidFill>
                <a:effectLst/>
                <a:latin typeface="Aptos" panose="020B0004020202020204" pitchFamily="34" charset="0"/>
              </a:rPr>
              <a:t>, and mean farm profit is </a:t>
            </a:r>
            <a:r>
              <a:rPr lang="en-IN" sz="1800" b="1" i="0" dirty="0">
                <a:solidFill>
                  <a:schemeClr val="tx1"/>
                </a:solidFill>
                <a:effectLst/>
                <a:latin typeface="Aptos" panose="020B0004020202020204" pitchFamily="34" charset="0"/>
              </a:rPr>
              <a:t>₹1.03 Lakhs</a:t>
            </a:r>
            <a:r>
              <a:rPr lang="en-IN" sz="1800" b="0" i="0" dirty="0">
                <a:solidFill>
                  <a:schemeClr val="tx1"/>
                </a:solidFill>
                <a:effectLst/>
                <a:latin typeface="Aptos" panose="020B0004020202020204" pitchFamily="34" charset="0"/>
              </a:rPr>
              <a:t>.</a:t>
            </a:r>
            <a:endParaRPr lang="en-IN" sz="976" b="0" i="0" dirty="0">
              <a:solidFill>
                <a:srgbClr val="CCCCCC"/>
              </a:solidFill>
              <a:effectLst/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6225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AAE43-B138-25CD-D01F-41DB38855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FCF24DA-3CDC-4D87-9335-AB913C783F7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6D5AF756-BADB-9E87-14AC-F87A8C7463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4716F3BA-AE41-9B35-3BCA-353F205375D1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0E149068-B429-662F-714A-0DD8CE171A51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3A64DB11-806F-1A4C-E0D5-D745D29CED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10617" y="1428171"/>
            <a:ext cx="4816929" cy="4890799"/>
          </a:xfrm>
        </p:spPr>
        <p:txBody>
          <a:bodyPr>
            <a:normAutofit fontScale="85000" lnSpcReduction="20000"/>
          </a:bodyPr>
          <a:lstStyle/>
          <a:p>
            <a:r>
              <a:rPr lang="en-IN" b="1" dirty="0">
                <a:latin typeface="Aptos" panose="020B0004020202020204" pitchFamily="34" charset="0"/>
              </a:rPr>
              <a:t>Correlation Matrix of Numerical Variables</a:t>
            </a:r>
          </a:p>
          <a:p>
            <a:pPr lvl="0"/>
            <a:r>
              <a:rPr lang="en-IN" b="1" dirty="0">
                <a:latin typeface="Aptos" panose="020B0004020202020204" pitchFamily="34" charset="0"/>
              </a:rPr>
              <a:t>Yield and Production:</a:t>
            </a:r>
            <a:r>
              <a:rPr lang="en-IN" dirty="0">
                <a:latin typeface="Aptos" panose="020B0004020202020204" pitchFamily="34" charset="0"/>
              </a:rPr>
              <a:t> Strong positive correlation (</a:t>
            </a:r>
            <a:r>
              <a:rPr lang="en-IN" b="1" dirty="0">
                <a:latin typeface="Aptos" panose="020B0004020202020204" pitchFamily="34" charset="0"/>
              </a:rPr>
              <a:t>r = 0.88</a:t>
            </a:r>
            <a:r>
              <a:rPr lang="en-IN" dirty="0">
                <a:latin typeface="Aptos" panose="020B0004020202020204" pitchFamily="34" charset="0"/>
              </a:rPr>
              <a:t>). </a:t>
            </a:r>
          </a:p>
          <a:p>
            <a:pPr lvl="0"/>
            <a:r>
              <a:rPr lang="en-IN" b="1" dirty="0">
                <a:latin typeface="Aptos" panose="020B0004020202020204" pitchFamily="34" charset="0"/>
              </a:rPr>
              <a:t>Revenue and Profit:</a:t>
            </a:r>
            <a:r>
              <a:rPr lang="en-IN" dirty="0">
                <a:latin typeface="Aptos" panose="020B0004020202020204" pitchFamily="34" charset="0"/>
              </a:rPr>
              <a:t> Strong positive correlation (</a:t>
            </a:r>
            <a:r>
              <a:rPr lang="en-IN" b="1" dirty="0">
                <a:latin typeface="Aptos" panose="020B0004020202020204" pitchFamily="34" charset="0"/>
              </a:rPr>
              <a:t>r = 0.89</a:t>
            </a:r>
            <a:r>
              <a:rPr lang="en-IN" dirty="0">
                <a:latin typeface="Aptos" panose="020B0004020202020204" pitchFamily="34" charset="0"/>
              </a:rPr>
              <a:t>). </a:t>
            </a:r>
          </a:p>
          <a:p>
            <a:pPr lvl="0"/>
            <a:r>
              <a:rPr lang="en-IN" b="1" dirty="0">
                <a:latin typeface="Aptos" panose="020B0004020202020204" pitchFamily="34" charset="0"/>
              </a:rPr>
              <a:t>Farm Area and Total Cost:</a:t>
            </a:r>
            <a:r>
              <a:rPr lang="en-IN" dirty="0">
                <a:latin typeface="Aptos" panose="020B0004020202020204" pitchFamily="34" charset="0"/>
              </a:rPr>
              <a:t> Very strong positive correlation (</a:t>
            </a:r>
            <a:r>
              <a:rPr lang="en-IN" b="1" dirty="0">
                <a:latin typeface="Aptos" panose="020B0004020202020204" pitchFamily="34" charset="0"/>
              </a:rPr>
              <a:t>r = 0.96</a:t>
            </a:r>
            <a:r>
              <a:rPr lang="en-IN" dirty="0">
                <a:latin typeface="Aptos" panose="020B0004020202020204" pitchFamily="34" charset="0"/>
              </a:rPr>
              <a:t>). </a:t>
            </a:r>
          </a:p>
          <a:p>
            <a:pPr lvl="0"/>
            <a:r>
              <a:rPr lang="en-IN" b="1" dirty="0">
                <a:latin typeface="Aptos" panose="020B0004020202020204" pitchFamily="34" charset="0"/>
              </a:rPr>
              <a:t>Rainfall and Disease/Pest Risk:</a:t>
            </a:r>
            <a:r>
              <a:rPr lang="en-IN" dirty="0">
                <a:latin typeface="Aptos" panose="020B0004020202020204" pitchFamily="34" charset="0"/>
              </a:rPr>
              <a:t> Moderate positive correlation (</a:t>
            </a:r>
            <a:r>
              <a:rPr lang="en-IN" b="1" dirty="0">
                <a:latin typeface="Aptos" panose="020B0004020202020204" pitchFamily="34" charset="0"/>
              </a:rPr>
              <a:t>r = 0.62</a:t>
            </a:r>
            <a:r>
              <a:rPr lang="en-IN" dirty="0">
                <a:latin typeface="Aptos" panose="020B0004020202020204" pitchFamily="34" charset="0"/>
              </a:rPr>
              <a:t>). </a:t>
            </a:r>
          </a:p>
          <a:p>
            <a:pPr lvl="0"/>
            <a:r>
              <a:rPr lang="en-IN" b="1" dirty="0">
                <a:latin typeface="Aptos" panose="020B0004020202020204" pitchFamily="34" charset="0"/>
              </a:rPr>
              <a:t>Humidity and Disease/Pest Risk:</a:t>
            </a:r>
            <a:r>
              <a:rPr lang="en-IN" dirty="0">
                <a:latin typeface="Aptos" panose="020B0004020202020204" pitchFamily="34" charset="0"/>
              </a:rPr>
              <a:t> Positive correlation (</a:t>
            </a:r>
            <a:r>
              <a:rPr lang="en-IN" b="1" dirty="0">
                <a:latin typeface="Aptos" panose="020B0004020202020204" pitchFamily="34" charset="0"/>
              </a:rPr>
              <a:t>r = 0.55</a:t>
            </a:r>
            <a:r>
              <a:rPr lang="en-IN" dirty="0">
                <a:latin typeface="Aptos" panose="020B0004020202020204" pitchFamily="34" charset="0"/>
              </a:rPr>
              <a:t>). </a:t>
            </a:r>
          </a:p>
          <a:p>
            <a:pPr lvl="0"/>
            <a:r>
              <a:rPr lang="en-IN" b="1" dirty="0">
                <a:latin typeface="Aptos" panose="020B0004020202020204" pitchFamily="34" charset="0"/>
              </a:rPr>
              <a:t>Pesticide use and Disease/Pest Risk:</a:t>
            </a:r>
            <a:r>
              <a:rPr lang="en-IN" dirty="0">
                <a:latin typeface="Aptos" panose="020B0004020202020204" pitchFamily="34" charset="0"/>
              </a:rPr>
              <a:t> Negative correlation (</a:t>
            </a:r>
            <a:r>
              <a:rPr lang="en-IN" b="1" dirty="0">
                <a:latin typeface="Aptos" panose="020B0004020202020204" pitchFamily="34" charset="0"/>
              </a:rPr>
              <a:t>r = -0.47</a:t>
            </a:r>
            <a:r>
              <a:rPr lang="en-IN" dirty="0">
                <a:latin typeface="Aptos" panose="020B0004020202020204" pitchFamily="34" charset="0"/>
              </a:rPr>
              <a:t>). </a:t>
            </a:r>
          </a:p>
          <a:p>
            <a:r>
              <a:rPr lang="en-IN" b="1" dirty="0">
                <a:latin typeface="Aptos" panose="020B0004020202020204" pitchFamily="34" charset="0"/>
              </a:rPr>
              <a:t>Key Finding</a:t>
            </a:r>
          </a:p>
          <a:p>
            <a:r>
              <a:rPr lang="en-IN" b="1" dirty="0">
                <a:latin typeface="Aptos" panose="020B0004020202020204" pitchFamily="34" charset="0"/>
              </a:rPr>
              <a:t>Production and profitability are strongly related to farm-scale and yield factors, while rainfall and humidity show positive relationships with disease and pest risk.</a:t>
            </a:r>
            <a:endParaRPr lang="en-IN" dirty="0">
              <a:latin typeface="Aptos" panose="020B0004020202020204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9757191-2F25-A6C4-ACB7-133A75E7D5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7182" y="1134621"/>
            <a:ext cx="6701088" cy="5386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9627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0"/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1000"/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1000" fill="hold"/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1000" fill="hold"/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1000"/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1000" fill="hold"/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1000" fill="hold"/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1000"/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1000" fill="hold"/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1000" fill="hold"/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F9E943-C59C-1D86-29CA-F786C47BA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EC6E6C7-69F2-D361-F3CC-FC5268D9BC8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DFCD5524-F764-DC63-6F54-D48057CF17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4B1E3463-DEAD-53DD-2AC0-E8A458421D0B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B713140B-3822-90E0-F216-B77A695B86B5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A805B58-C0FE-9E0F-1781-2C421D1A52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5532" y="1909213"/>
            <a:ext cx="6335486" cy="396232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51F0BD8-6BC2-7B5B-35A2-8000E8B91CAC}"/>
              </a:ext>
            </a:extLst>
          </p:cNvPr>
          <p:cNvSpPr txBox="1"/>
          <p:nvPr/>
        </p:nvSpPr>
        <p:spPr>
          <a:xfrm>
            <a:off x="473529" y="1608410"/>
            <a:ext cx="5062003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000" b="1" dirty="0">
                <a:latin typeface="Aptos" panose="020B0004020202020204" pitchFamily="34" charset="0"/>
              </a:rPr>
              <a:t>Average Yield by Crop and Season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b="1" dirty="0">
                <a:latin typeface="Aptos" panose="020B0004020202020204" pitchFamily="34" charset="0"/>
              </a:rPr>
              <a:t>Kharif generally shows the highest yield</a:t>
            </a:r>
            <a:r>
              <a:rPr lang="en-IN" dirty="0">
                <a:latin typeface="Aptos" panose="020B0004020202020204" pitchFamily="34" charset="0"/>
              </a:rPr>
              <a:t> across the major crops.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b="1" dirty="0">
                <a:latin typeface="Aptos" panose="020B0004020202020204" pitchFamily="34" charset="0"/>
              </a:rPr>
              <a:t>Sugarcane has the highest average yield</a:t>
            </a:r>
            <a:r>
              <a:rPr lang="en-IN" dirty="0">
                <a:latin typeface="Aptos" panose="020B0004020202020204" pitchFamily="34" charset="0"/>
              </a:rPr>
              <a:t> among all crops.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b="1" dirty="0">
                <a:latin typeface="Aptos" panose="020B0004020202020204" pitchFamily="34" charset="0"/>
              </a:rPr>
              <a:t>Rabi shows moderate and relatively stable performance</a:t>
            </a:r>
            <a:r>
              <a:rPr lang="en-IN" dirty="0">
                <a:latin typeface="Aptos" panose="020B0004020202020204" pitchFamily="34" charset="0"/>
              </a:rPr>
              <a:t> across crops.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b="1" dirty="0">
                <a:latin typeface="Aptos" panose="020B0004020202020204" pitchFamily="34" charset="0"/>
              </a:rPr>
              <a:t>Zaid records comparatively lower yields</a:t>
            </a:r>
            <a:r>
              <a:rPr lang="en-IN" dirty="0">
                <a:latin typeface="Aptos" panose="020B0004020202020204" pitchFamily="34" charset="0"/>
              </a:rPr>
              <a:t> for most crops.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Seasonal differences show that </a:t>
            </a:r>
            <a:r>
              <a:rPr lang="en-IN" b="1" dirty="0">
                <a:latin typeface="Aptos" panose="020B0004020202020204" pitchFamily="34" charset="0"/>
              </a:rPr>
              <a:t>crop performance is closely linked to seasonal conditions</a:t>
            </a:r>
            <a:r>
              <a:rPr lang="en-IN" dirty="0">
                <a:latin typeface="Aptos" panose="020B0004020202020204" pitchFamily="34" charset="0"/>
              </a:rPr>
              <a:t>. </a:t>
            </a:r>
          </a:p>
          <a:p>
            <a:pPr>
              <a:buNone/>
            </a:pPr>
            <a:r>
              <a:rPr lang="en-IN" b="1" dirty="0">
                <a:latin typeface="Aptos" panose="020B0004020202020204" pitchFamily="34" charset="0"/>
              </a:rPr>
              <a:t>Key Finding</a:t>
            </a:r>
          </a:p>
          <a:p>
            <a:pPr>
              <a:buNone/>
            </a:pPr>
            <a:r>
              <a:rPr lang="en-IN" b="1" dirty="0">
                <a:latin typeface="Aptos" panose="020B0004020202020204" pitchFamily="34" charset="0"/>
              </a:rPr>
              <a:t>Kharif performs better in terms of average yield, while Sugarcane is the strongest-performing crop across seasons.</a:t>
            </a:r>
            <a:endParaRPr lang="en-IN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8901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5AC1B-54F8-474D-6B86-CF23FDF34B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9D7CE81-8696-30A4-F33E-B4B569D3502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15FD49EE-0956-AAE3-737B-15F7D4267C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>
                <a:latin typeface="Aptos" panose="020B0004020202020204" pitchFamily="34" charset="0"/>
              </a:rPr>
              <a:t>RESULTS </a:t>
            </a:r>
            <a:endParaRPr lang="en-IN" dirty="0">
              <a:latin typeface="Aptos" panose="020B0004020202020204" pitchFamily="34" charset="0"/>
            </a:endParaRP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D224F8B1-34DD-5A54-7F70-25EBA532E6E1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>
              <a:latin typeface="Aptos" panose="020B0004020202020204" pitchFamily="34" charset="0"/>
            </a:endParaRPr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25A36120-3EFF-6A69-8D23-42BFD883ADDA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>
              <a:latin typeface="Aptos" panose="020B0004020202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13A34D5-9780-F27A-D838-7925BE1A70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6289" y="1146690"/>
            <a:ext cx="9596437" cy="392618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81209B4-DE04-7151-F0EB-D17AA2F548D2}"/>
              </a:ext>
            </a:extLst>
          </p:cNvPr>
          <p:cNvSpPr txBox="1"/>
          <p:nvPr/>
        </p:nvSpPr>
        <p:spPr>
          <a:xfrm>
            <a:off x="536304" y="5072874"/>
            <a:ext cx="11119392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en-IN" sz="1800" b="1" i="0" dirty="0">
                <a:solidFill>
                  <a:schemeClr val="tx1"/>
                </a:solidFill>
                <a:effectLst/>
                <a:latin typeface="Aptos" panose="020B0004020202020204" pitchFamily="34" charset="0"/>
              </a:rPr>
              <a:t>Micro-Irrigation Superiority:</a:t>
            </a:r>
            <a:r>
              <a:rPr lang="en-IN" sz="1800" b="0" i="0" dirty="0">
                <a:solidFill>
                  <a:schemeClr val="tx1"/>
                </a:solidFill>
                <a:effectLst/>
                <a:latin typeface="Aptos" panose="020B0004020202020204" pitchFamily="34" charset="0"/>
              </a:rPr>
              <a:t> Drip irrigation delivers the highest water productivity (</a:t>
            </a:r>
            <a:r>
              <a:rPr lang="en-IN" sz="1800" b="1" i="0" dirty="0">
                <a:solidFill>
                  <a:schemeClr val="tx1"/>
                </a:solidFill>
                <a:effectLst/>
                <a:latin typeface="Aptos" panose="020B0004020202020204" pitchFamily="34" charset="0"/>
              </a:rPr>
              <a:t>6.27 tonnes per $1,000,\text{m}^3$</a:t>
            </a:r>
            <a:r>
              <a:rPr lang="en-IN" sz="1800" b="0" i="0" dirty="0">
                <a:solidFill>
                  <a:schemeClr val="tx1"/>
                </a:solidFill>
                <a:effectLst/>
                <a:latin typeface="Aptos" panose="020B0004020202020204" pitchFamily="34" charset="0"/>
              </a:rPr>
              <a:t>) and highest net profit (</a:t>
            </a:r>
            <a:r>
              <a:rPr lang="en-IN" sz="1800" b="1" i="0" dirty="0">
                <a:solidFill>
                  <a:schemeClr val="tx1"/>
                </a:solidFill>
                <a:effectLst/>
                <a:latin typeface="Aptos" panose="020B0004020202020204" pitchFamily="34" charset="0"/>
              </a:rPr>
              <a:t>₹2.20 Lakhs</a:t>
            </a:r>
            <a:r>
              <a:rPr lang="en-IN" sz="1800" b="0" i="0" dirty="0">
                <a:solidFill>
                  <a:schemeClr val="tx1"/>
                </a:solidFill>
                <a:effectLst/>
                <a:latin typeface="Aptos" panose="020B0004020202020204" pitchFamily="34" charset="0"/>
              </a:rPr>
              <a:t>).</a:t>
            </a:r>
          </a:p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en-IN" sz="1800" b="1" i="0" dirty="0">
                <a:solidFill>
                  <a:schemeClr val="tx1"/>
                </a:solidFill>
                <a:effectLst/>
                <a:latin typeface="Aptos" panose="020B0004020202020204" pitchFamily="34" charset="0"/>
              </a:rPr>
              <a:t>Water Wastage in Flood Irrigation:</a:t>
            </a:r>
            <a:r>
              <a:rPr lang="en-IN" sz="1800" b="0" i="0" dirty="0">
                <a:solidFill>
                  <a:schemeClr val="tx1"/>
                </a:solidFill>
                <a:effectLst/>
                <a:latin typeface="Aptos" panose="020B0004020202020204" pitchFamily="34" charset="0"/>
              </a:rPr>
              <a:t> Flood irrigation yields only </a:t>
            </a:r>
            <a:r>
              <a:rPr lang="en-IN" sz="1800" b="1" i="0" dirty="0">
                <a:solidFill>
                  <a:schemeClr val="tx1"/>
                </a:solidFill>
                <a:effectLst/>
                <a:latin typeface="Aptos" panose="020B0004020202020204" pitchFamily="34" charset="0"/>
              </a:rPr>
              <a:t>3.44 $t/1000,\text{m}^3$</a:t>
            </a:r>
            <a:r>
              <a:rPr lang="en-IN" sz="1800" b="0" i="0" dirty="0">
                <a:solidFill>
                  <a:schemeClr val="tx1"/>
                </a:solidFill>
                <a:effectLst/>
                <a:latin typeface="Aptos" panose="020B0004020202020204" pitchFamily="34" charset="0"/>
              </a:rPr>
              <a:t>, consuming ~42% more water with lower profit margins.</a:t>
            </a:r>
          </a:p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en-IN" sz="1800" b="1" i="0" dirty="0">
                <a:solidFill>
                  <a:schemeClr val="tx1"/>
                </a:solidFill>
                <a:effectLst/>
                <a:latin typeface="Aptos" panose="020B0004020202020204" pitchFamily="34" charset="0"/>
              </a:rPr>
              <a:t>Seasonal Criticality:</a:t>
            </a:r>
            <a:r>
              <a:rPr lang="en-IN" sz="1800" b="0" i="0" dirty="0">
                <a:solidFill>
                  <a:schemeClr val="tx1"/>
                </a:solidFill>
                <a:effectLst/>
                <a:latin typeface="Aptos" panose="020B0004020202020204" pitchFamily="34" charset="0"/>
              </a:rPr>
              <a:t> In summer (</a:t>
            </a:r>
            <a:r>
              <a:rPr lang="en-IN" sz="1800" b="1" i="0" dirty="0">
                <a:solidFill>
                  <a:schemeClr val="tx1"/>
                </a:solidFill>
                <a:effectLst/>
                <a:latin typeface="Aptos" panose="020B0004020202020204" pitchFamily="34" charset="0"/>
              </a:rPr>
              <a:t>Zaid</a:t>
            </a:r>
            <a:r>
              <a:rPr lang="en-IN" sz="1800" b="0" i="0" dirty="0">
                <a:solidFill>
                  <a:schemeClr val="tx1"/>
                </a:solidFill>
                <a:effectLst/>
                <a:latin typeface="Aptos" panose="020B0004020202020204" pitchFamily="34" charset="0"/>
              </a:rPr>
              <a:t>), micro-irrigation is essential to prevent complete crop failure.</a:t>
            </a:r>
            <a:endParaRPr lang="en-IN" sz="976" b="0" i="0" dirty="0">
              <a:solidFill>
                <a:srgbClr val="CCCCCC"/>
              </a:solidFill>
              <a:effectLst/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3979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30C45-6A74-29AD-A5C0-D5F36592D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E7611FF-D6E5-400F-ED75-6F5531CFA95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9E35150-35BD-1B1F-9A8C-890DBFDF3B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13" name="Text Placeholder 30">
            <a:extLst>
              <a:ext uri="{FF2B5EF4-FFF2-40B4-BE49-F238E27FC236}">
                <a16:creationId xmlns:a16="http://schemas.microsoft.com/office/drawing/2014/main" id="{5A2A9BCE-A757-223C-2A3D-44341FB27A61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4" name="Text Placeholder 30">
            <a:extLst>
              <a:ext uri="{FF2B5EF4-FFF2-40B4-BE49-F238E27FC236}">
                <a16:creationId xmlns:a16="http://schemas.microsoft.com/office/drawing/2014/main" id="{1EED58A7-2CD5-1355-8D1D-DD62A1ED8CB5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147062E-D3D5-15C7-EFE2-CEBD6FEA47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962" y="1339292"/>
            <a:ext cx="9188224" cy="375917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068446D2-A6F4-3786-D129-0F8C27A85498}"/>
              </a:ext>
            </a:extLst>
          </p:cNvPr>
          <p:cNvSpPr txBox="1"/>
          <p:nvPr/>
        </p:nvSpPr>
        <p:spPr>
          <a:xfrm>
            <a:off x="843303" y="5133885"/>
            <a:ext cx="842554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b="1" dirty="0">
                <a:latin typeface="Aptos" panose="020B0004020202020204" pitchFamily="34" charset="0"/>
              </a:rPr>
              <a:t>Kharif has the highest disease/pest risk</a:t>
            </a:r>
            <a:r>
              <a:rPr lang="en-IN" dirty="0">
                <a:latin typeface="Aptos" panose="020B0004020202020204" pitchFamily="34" charset="0"/>
              </a:rPr>
              <a:t> compared with Rabi and Zaid.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b="1" dirty="0">
                <a:latin typeface="Aptos" panose="020B0004020202020204" pitchFamily="34" charset="0"/>
              </a:rPr>
              <a:t>Higher humidity is associated with higher disease/pest risk.</a:t>
            </a:r>
            <a:r>
              <a:rPr lang="en-IN" dirty="0">
                <a:latin typeface="Aptos" panose="020B0004020202020204" pitchFamily="34" charset="0"/>
              </a:rPr>
              <a:t>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This suggests that </a:t>
            </a:r>
            <a:r>
              <a:rPr lang="en-IN" b="1" dirty="0">
                <a:latin typeface="Aptos" panose="020B0004020202020204" pitchFamily="34" charset="0"/>
              </a:rPr>
              <a:t>humid seasonal conditions require better pest and disease management.</a:t>
            </a:r>
            <a:endParaRPr lang="en-IN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15222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3" grpId="0"/>
      <p:bldP spid="1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3D6219-C13F-6581-59C5-B41D1E9F02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669D95C-F183-2226-4C64-C9467572A79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B3510CBF-5C5F-4184-8094-D4D9A5A644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2BDC6F3-6C75-B1A1-A70C-51AE04DDD4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23950"/>
            <a:ext cx="9846129" cy="402493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58A70D8-5090-ABEB-43AC-96D7F1FB8A82}"/>
              </a:ext>
            </a:extLst>
          </p:cNvPr>
          <p:cNvSpPr txBox="1"/>
          <p:nvPr/>
        </p:nvSpPr>
        <p:spPr>
          <a:xfrm>
            <a:off x="675957" y="5302084"/>
            <a:ext cx="853984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b="1" dirty="0">
                <a:latin typeface="Aptos" panose="020B0004020202020204" pitchFamily="34" charset="0"/>
              </a:rPr>
              <a:t>Medium and large farms show higher profit per hectare</a:t>
            </a:r>
            <a:r>
              <a:rPr lang="en-IN" dirty="0">
                <a:latin typeface="Aptos" panose="020B0004020202020204" pitchFamily="34" charset="0"/>
              </a:rPr>
              <a:t> than small farms.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b="1" dirty="0">
                <a:latin typeface="Aptos" panose="020B0004020202020204" pitchFamily="34" charset="0"/>
              </a:rPr>
              <a:t>Cost per hectare remains relatively similar</a:t>
            </a:r>
            <a:r>
              <a:rPr lang="en-IN" dirty="0">
                <a:latin typeface="Aptos" panose="020B0004020202020204" pitchFamily="34" charset="0"/>
              </a:rPr>
              <a:t> across the three farm categories.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Larger farms show better returns, indicating a possible </a:t>
            </a:r>
            <a:r>
              <a:rPr lang="en-IN" b="1" dirty="0">
                <a:latin typeface="Aptos" panose="020B0004020202020204" pitchFamily="34" charset="0"/>
              </a:rPr>
              <a:t>economy of scale</a:t>
            </a:r>
            <a:r>
              <a:rPr lang="en-IN" dirty="0">
                <a:latin typeface="Aptos" panose="020B00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020483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C8FC53-1CAC-7C3B-0C90-74A5E6B25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0C1742B-067C-923C-B8CC-F73AFCC3C3A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88F4CF7A-B978-9FCF-5265-D206D4172C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BC5C63D-39FE-51DD-EAC7-CEFF8D609E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2214" y="1201586"/>
            <a:ext cx="6987695" cy="482365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56949AC-34F1-E951-E87F-AC4128213DBC}"/>
              </a:ext>
            </a:extLst>
          </p:cNvPr>
          <p:cNvSpPr txBox="1"/>
          <p:nvPr/>
        </p:nvSpPr>
        <p:spPr>
          <a:xfrm>
            <a:off x="675957" y="1319248"/>
            <a:ext cx="4679814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IN" b="1" dirty="0" err="1">
                <a:latin typeface="Aptos" panose="020B0004020202020204" pitchFamily="34" charset="0"/>
              </a:rPr>
              <a:t>AgriScore</a:t>
            </a:r>
            <a:r>
              <a:rPr lang="en-IN" b="1" dirty="0">
                <a:latin typeface="Aptos" panose="020B0004020202020204" pitchFamily="34" charset="0"/>
              </a:rPr>
              <a:t> Crop Suitability</a:t>
            </a:r>
          </a:p>
          <a:p>
            <a:pPr marL="285750" lvl="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IN" dirty="0" err="1">
                <a:latin typeface="Aptos" panose="020B0004020202020204" pitchFamily="34" charset="0"/>
              </a:rPr>
              <a:t>AgriScore</a:t>
            </a:r>
            <a:r>
              <a:rPr lang="en-IN" dirty="0">
                <a:latin typeface="Aptos" panose="020B0004020202020204" pitchFamily="34" charset="0"/>
              </a:rPr>
              <a:t> combines </a:t>
            </a:r>
            <a:r>
              <a:rPr lang="en-IN" b="1" dirty="0">
                <a:latin typeface="Aptos" panose="020B0004020202020204" pitchFamily="34" charset="0"/>
              </a:rPr>
              <a:t>Yield, Profitability, Water Productivity, and Pest Resilience</a:t>
            </a:r>
            <a:r>
              <a:rPr lang="en-IN" dirty="0">
                <a:latin typeface="Aptos" panose="020B0004020202020204" pitchFamily="34" charset="0"/>
              </a:rPr>
              <a:t> into one overall score. </a:t>
            </a:r>
          </a:p>
          <a:p>
            <a:pPr marL="285750" lvl="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IN" b="1" dirty="0">
                <a:latin typeface="Aptos" panose="020B0004020202020204" pitchFamily="34" charset="0"/>
              </a:rPr>
              <a:t>Sugarcane is the strongest performer</a:t>
            </a:r>
            <a:r>
              <a:rPr lang="en-IN" dirty="0">
                <a:latin typeface="Aptos" panose="020B0004020202020204" pitchFamily="34" charset="0"/>
              </a:rPr>
              <a:t> across all seasons, with the highest score in Kharif (</a:t>
            </a:r>
            <a:r>
              <a:rPr lang="en-IN" b="1" dirty="0">
                <a:latin typeface="Aptos" panose="020B0004020202020204" pitchFamily="34" charset="0"/>
              </a:rPr>
              <a:t>86.22</a:t>
            </a:r>
            <a:r>
              <a:rPr lang="en-IN" dirty="0">
                <a:latin typeface="Aptos" panose="020B0004020202020204" pitchFamily="34" charset="0"/>
              </a:rPr>
              <a:t>), Rabi (</a:t>
            </a:r>
            <a:r>
              <a:rPr lang="en-IN" b="1" dirty="0">
                <a:latin typeface="Aptos" panose="020B0004020202020204" pitchFamily="34" charset="0"/>
              </a:rPr>
              <a:t>79.34</a:t>
            </a:r>
            <a:r>
              <a:rPr lang="en-IN" dirty="0">
                <a:latin typeface="Aptos" panose="020B0004020202020204" pitchFamily="34" charset="0"/>
              </a:rPr>
              <a:t>), and Zaid (</a:t>
            </a:r>
            <a:r>
              <a:rPr lang="en-IN" b="1" dirty="0">
                <a:latin typeface="Aptos" panose="020B0004020202020204" pitchFamily="34" charset="0"/>
              </a:rPr>
              <a:t>71.09</a:t>
            </a:r>
            <a:r>
              <a:rPr lang="en-IN" dirty="0">
                <a:latin typeface="Aptos" panose="020B0004020202020204" pitchFamily="34" charset="0"/>
              </a:rPr>
              <a:t>). </a:t>
            </a:r>
          </a:p>
          <a:p>
            <a:pPr marL="285750" lvl="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IN" b="1" dirty="0">
                <a:latin typeface="Aptos" panose="020B0004020202020204" pitchFamily="34" charset="0"/>
              </a:rPr>
              <a:t>Chilli is the second-best performer</a:t>
            </a:r>
            <a:r>
              <a:rPr lang="en-IN" dirty="0">
                <a:latin typeface="Aptos" panose="020B0004020202020204" pitchFamily="34" charset="0"/>
              </a:rPr>
              <a:t>, especially in Kharif and Rabi. </a:t>
            </a:r>
          </a:p>
          <a:p>
            <a:r>
              <a:rPr lang="en-IN" b="1" dirty="0">
                <a:latin typeface="Aptos" panose="020B0004020202020204" pitchFamily="34" charset="0"/>
              </a:rPr>
              <a:t>Key Finding:</a:t>
            </a:r>
            <a:br>
              <a:rPr lang="en-IN" dirty="0">
                <a:latin typeface="Aptos" panose="020B0004020202020204" pitchFamily="34" charset="0"/>
              </a:rPr>
            </a:br>
            <a:r>
              <a:rPr lang="en-IN" dirty="0">
                <a:latin typeface="Aptos" panose="020B0004020202020204" pitchFamily="34" charset="0"/>
              </a:rPr>
              <a:t>Sugarcane shows the highest overall suitability across the three seasons.</a:t>
            </a:r>
          </a:p>
          <a:p>
            <a:pPr marL="342900" lvl="0" indent="-342900">
              <a:buFont typeface="Wingdings" panose="05000000000000000000" pitchFamily="2" charset="2"/>
              <a:buChar char="§"/>
            </a:pPr>
            <a:endParaRPr lang="en-IN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13266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40941-4580-314A-800F-8DFDFCB43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A6A7763-EA3A-4652-EB42-587E1397AE7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DD94CE4C-C99E-C08F-7CBE-A237316D4C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2C57E6C-979D-DB98-0137-7A1CC370AD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2643" y="949401"/>
            <a:ext cx="4163518" cy="571555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DFFA142-D9E4-E985-8779-AF25F7CFB7F4}"/>
              </a:ext>
            </a:extLst>
          </p:cNvPr>
          <p:cNvSpPr txBox="1"/>
          <p:nvPr/>
        </p:nvSpPr>
        <p:spPr>
          <a:xfrm>
            <a:off x="6384471" y="543585"/>
            <a:ext cx="6106884" cy="2425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800" b="1" i="0" dirty="0">
                <a:solidFill>
                  <a:schemeClr val="tx1"/>
                </a:solidFill>
                <a:effectLst/>
                <a:latin typeface="+mn-lt"/>
              </a:rPr>
              <a:t>Suitability Summary Table</a:t>
            </a:r>
            <a:endParaRPr lang="en-IN" dirty="0"/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DB06D22-685F-5536-BB75-8F824C2859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8276487"/>
              </p:ext>
            </p:extLst>
          </p:nvPr>
        </p:nvGraphicFramePr>
        <p:xfrm>
          <a:off x="675957" y="1458679"/>
          <a:ext cx="4843100" cy="2560320"/>
        </p:xfrm>
        <a:graphic>
          <a:graphicData uri="http://schemas.openxmlformats.org/drawingml/2006/table">
            <a:tbl>
              <a:tblPr>
                <a:tableStyleId>{6E25E649-3F16-4E02-A733-19D2CDBF48F0}</a:tableStyleId>
              </a:tblPr>
              <a:tblGrid>
                <a:gridCol w="1210775">
                  <a:extLst>
                    <a:ext uri="{9D8B030D-6E8A-4147-A177-3AD203B41FA5}">
                      <a16:colId xmlns:a16="http://schemas.microsoft.com/office/drawing/2014/main" val="1449464570"/>
                    </a:ext>
                  </a:extLst>
                </a:gridCol>
                <a:gridCol w="1378982">
                  <a:extLst>
                    <a:ext uri="{9D8B030D-6E8A-4147-A177-3AD203B41FA5}">
                      <a16:colId xmlns:a16="http://schemas.microsoft.com/office/drawing/2014/main" val="2095205566"/>
                    </a:ext>
                  </a:extLst>
                </a:gridCol>
                <a:gridCol w="1224643">
                  <a:extLst>
                    <a:ext uri="{9D8B030D-6E8A-4147-A177-3AD203B41FA5}">
                      <a16:colId xmlns:a16="http://schemas.microsoft.com/office/drawing/2014/main" val="2301155481"/>
                    </a:ext>
                  </a:extLst>
                </a:gridCol>
                <a:gridCol w="1028700">
                  <a:extLst>
                    <a:ext uri="{9D8B030D-6E8A-4147-A177-3AD203B41FA5}">
                      <a16:colId xmlns:a16="http://schemas.microsoft.com/office/drawing/2014/main" val="2346002347"/>
                    </a:ext>
                  </a:extLst>
                </a:gridCol>
              </a:tblGrid>
              <a:tr h="2216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Season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Best Crop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/>
                        <a:t>AgriScore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/>
                        <a:t>Mean Profit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98110318"/>
                  </a:ext>
                </a:extLst>
              </a:tr>
              <a:tr h="3509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Kharif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Sugarcane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/>
                        <a:t>86.22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dirty="0"/>
                        <a:t>₹10.01 Lakh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0256314"/>
                  </a:ext>
                </a:extLst>
              </a:tr>
              <a:tr h="3509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Rabi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Sugarcane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/>
                        <a:t>79.34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/>
                        <a:t>₹7.32 Lakh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66037876"/>
                  </a:ext>
                </a:extLst>
              </a:tr>
              <a:tr h="3509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Zaid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Sugarcane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/>
                        <a:t>71.09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dirty="0"/>
                        <a:t>₹5.84 Lakh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02651288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F51E0E87-76EB-CA52-7B44-7F9450301662}"/>
              </a:ext>
            </a:extLst>
          </p:cNvPr>
          <p:cNvSpPr txBox="1"/>
          <p:nvPr/>
        </p:nvSpPr>
        <p:spPr>
          <a:xfrm>
            <a:off x="544354" y="4356636"/>
            <a:ext cx="5441496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b="1" dirty="0">
                <a:latin typeface="Aptos" panose="020B0004020202020204" pitchFamily="34" charset="0"/>
              </a:rPr>
              <a:t>Other Strong Performer</a:t>
            </a:r>
          </a:p>
          <a:p>
            <a:pPr>
              <a:buNone/>
            </a:pPr>
            <a:r>
              <a:rPr lang="en-IN" b="1" dirty="0">
                <a:latin typeface="Aptos" panose="020B0004020202020204" pitchFamily="34" charset="0"/>
              </a:rPr>
              <a:t>Chilli:</a:t>
            </a:r>
            <a:r>
              <a:rPr lang="en-IN" dirty="0">
                <a:latin typeface="Aptos" panose="020B0004020202020204" pitchFamily="34" charset="0"/>
              </a:rPr>
              <a:t> </a:t>
            </a:r>
            <a:r>
              <a:rPr lang="en-IN" dirty="0" err="1">
                <a:latin typeface="Aptos" panose="020B0004020202020204" pitchFamily="34" charset="0"/>
              </a:rPr>
              <a:t>AgriScore</a:t>
            </a:r>
            <a:r>
              <a:rPr lang="en-IN" dirty="0">
                <a:latin typeface="Aptos" panose="020B0004020202020204" pitchFamily="34" charset="0"/>
              </a:rPr>
              <a:t> </a:t>
            </a:r>
            <a:r>
              <a:rPr lang="en-IN" b="1" dirty="0">
                <a:latin typeface="Aptos" panose="020B0004020202020204" pitchFamily="34" charset="0"/>
              </a:rPr>
              <a:t>37.31 (Kharif)</a:t>
            </a:r>
            <a:r>
              <a:rPr lang="en-IN" dirty="0">
                <a:latin typeface="Aptos" panose="020B0004020202020204" pitchFamily="34" charset="0"/>
              </a:rPr>
              <a:t> and </a:t>
            </a:r>
            <a:r>
              <a:rPr lang="en-IN" b="1" dirty="0">
                <a:latin typeface="Aptos" panose="020B0004020202020204" pitchFamily="34" charset="0"/>
              </a:rPr>
              <a:t>37.50 (Rabi)</a:t>
            </a:r>
          </a:p>
          <a:p>
            <a:pPr>
              <a:buNone/>
            </a:pPr>
            <a:endParaRPr lang="en-IN" dirty="0">
              <a:latin typeface="Aptos" panose="020B0004020202020204" pitchFamily="34" charset="0"/>
            </a:endParaRPr>
          </a:p>
          <a:p>
            <a:pPr>
              <a:buNone/>
            </a:pPr>
            <a:r>
              <a:rPr lang="en-IN" b="1" dirty="0">
                <a:latin typeface="Aptos" panose="020B0004020202020204" pitchFamily="34" charset="0"/>
              </a:rPr>
              <a:t>Key Finding:</a:t>
            </a:r>
            <a:br>
              <a:rPr lang="en-IN" dirty="0">
                <a:latin typeface="Aptos" panose="020B0004020202020204" pitchFamily="34" charset="0"/>
              </a:rPr>
            </a:br>
            <a:r>
              <a:rPr lang="en-IN" dirty="0">
                <a:latin typeface="Aptos" panose="020B0004020202020204" pitchFamily="34" charset="0"/>
              </a:rPr>
              <a:t>The suitability matrix shows that </a:t>
            </a:r>
            <a:r>
              <a:rPr lang="en-IN" b="1" dirty="0">
                <a:latin typeface="Aptos" panose="020B0004020202020204" pitchFamily="34" charset="0"/>
              </a:rPr>
              <a:t>Sugarcane consistently ranks first</a:t>
            </a:r>
            <a:r>
              <a:rPr lang="en-IN" dirty="0">
                <a:latin typeface="Aptos" panose="020B0004020202020204" pitchFamily="34" charset="0"/>
              </a:rPr>
              <a:t>, while Chilli provides the next strongest combination of score and profitability.</a:t>
            </a:r>
          </a:p>
        </p:txBody>
      </p:sp>
    </p:spTree>
    <p:extLst>
      <p:ext uri="{BB962C8B-B14F-4D97-AF65-F5344CB8AC3E}">
        <p14:creationId xmlns:p14="http://schemas.microsoft.com/office/powerpoint/2010/main" val="1984132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6E94ED-1743-306E-1CA1-9410A2B50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4506C61-5206-F1DF-9994-DED24DFB1C6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B097C2C-D75A-31D4-CD9F-366F39CDE5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525871"/>
            <a:ext cx="4735798" cy="830997"/>
          </a:xfrm>
        </p:spPr>
        <p:txBody>
          <a:bodyPr>
            <a:normAutofit/>
          </a:bodyPr>
          <a:lstStyle/>
          <a:p>
            <a:r>
              <a:rPr lang="en-IN" sz="4000" dirty="0"/>
              <a:t>Future scope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B7444DDE-63A3-9721-77CC-C93FED110DAF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2C8A8B73-0C64-E012-F561-D7FE5E322230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71A947-2395-E1B3-2942-79F80846B639}"/>
              </a:ext>
            </a:extLst>
          </p:cNvPr>
          <p:cNvSpPr txBox="1"/>
          <p:nvPr/>
        </p:nvSpPr>
        <p:spPr>
          <a:xfrm>
            <a:off x="855571" y="1608410"/>
            <a:ext cx="7994515" cy="46119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IN" b="1" dirty="0"/>
              <a:t>Multi-year Data Analysis:</a:t>
            </a:r>
            <a:r>
              <a:rPr lang="en-IN" dirty="0"/>
              <a:t> Use data from multiple years to study long-term agricultural and seasonal trends. </a:t>
            </a:r>
          </a:p>
          <a:p>
            <a:pPr marL="285750" lvl="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IN" b="1" dirty="0"/>
              <a:t>Climate Trend Analysis:</a:t>
            </a:r>
            <a:r>
              <a:rPr lang="en-IN" dirty="0"/>
              <a:t> </a:t>
            </a:r>
            <a:r>
              <a:rPr lang="en-IN" dirty="0" err="1"/>
              <a:t>Analyze</a:t>
            </a:r>
            <a:r>
              <a:rPr lang="en-IN" dirty="0"/>
              <a:t> the impact of changing rainfall and temperature patterns on crop performance. </a:t>
            </a:r>
          </a:p>
          <a:p>
            <a:pPr marL="285750" lvl="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IN" b="1" dirty="0"/>
              <a:t>GIS Integration:</a:t>
            </a:r>
            <a:r>
              <a:rPr lang="en-IN" dirty="0"/>
              <a:t> Add district-level maps to study regional differences in agriculture. </a:t>
            </a:r>
          </a:p>
          <a:p>
            <a:pPr marL="285750" lvl="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IN" b="1" dirty="0"/>
              <a:t>Soil &amp; Water Analysis:</a:t>
            </a:r>
            <a:r>
              <a:rPr lang="en-IN" dirty="0"/>
              <a:t> Include groundwater availability and detailed soil information for better crop planning. </a:t>
            </a:r>
          </a:p>
          <a:p>
            <a:pPr marL="285750" lvl="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IN" b="1" dirty="0"/>
              <a:t>Improved Crop Recommendations:</a:t>
            </a:r>
            <a:r>
              <a:rPr lang="en-IN" dirty="0"/>
              <a:t> Develop a more advanced system to recommend suitable crops based on seasonal conditions.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76828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316CE-193E-3D5D-C15A-98517303A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D44118A-0276-9E2F-E0E8-85CEE9F1E0C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01A2257-2F98-CB88-038E-C0F1D0A1A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4735798" cy="830997"/>
          </a:xfrm>
        </p:spPr>
        <p:txBody>
          <a:bodyPr>
            <a:normAutofit/>
          </a:bodyPr>
          <a:lstStyle/>
          <a:p>
            <a:r>
              <a:rPr lang="en-IN" sz="4000" dirty="0"/>
              <a:t>GitHub Link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AF1C8809-654A-4DD1-BB18-87B8B6C020B9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0F7D0B46-DEEA-1B5E-FE84-59D11F3B1105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6AE40C0-DDFB-EB26-5A7B-424AEBFE7A03}"/>
              </a:ext>
            </a:extLst>
          </p:cNvPr>
          <p:cNvSpPr txBox="1"/>
          <p:nvPr/>
        </p:nvSpPr>
        <p:spPr>
          <a:xfrm>
            <a:off x="1033819" y="1905171"/>
            <a:ext cx="854691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800" dirty="0"/>
              <a:t>https://github.com/rukeshsg/seasonal-agriculture-performance-analysis</a:t>
            </a:r>
          </a:p>
        </p:txBody>
      </p:sp>
      <p:pic>
        <p:nvPicPr>
          <p:cNvPr id="6" name="Picture 5" descr="How do I copy a GitHub link? Your Comprehensive Guide - SourceBae">
            <a:hlinkClick r:id="rId3"/>
            <a:extLst>
              <a:ext uri="{FF2B5EF4-FFF2-40B4-BE49-F238E27FC236}">
                <a16:creationId xmlns:a16="http://schemas.microsoft.com/office/drawing/2014/main" id="{AD9B8705-8F40-04B4-9813-14605C9968F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2499" b="26561"/>
          <a:stretch>
            <a:fillRect/>
          </a:stretch>
        </p:blipFill>
        <p:spPr>
          <a:xfrm>
            <a:off x="1303754" y="3216545"/>
            <a:ext cx="5956855" cy="1706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36104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66297-EA5A-44FA-6968-26D32B9B1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B12FC48-BC6E-8635-A49E-73EF17CEDC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42B692F6-18B4-BC16-EA0C-48FFBD562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8351388" cy="884658"/>
          </a:xfrm>
        </p:spPr>
        <p:txBody>
          <a:bodyPr>
            <a:normAutofit fontScale="90000"/>
          </a:bodyPr>
          <a:lstStyle/>
          <a:p>
            <a:r>
              <a:rPr lang="en-IN" sz="3200" dirty="0"/>
              <a:t>VOIS Course completion certificate - </a:t>
            </a:r>
            <a:br>
              <a:rPr lang="en-IN" sz="3200" dirty="0"/>
            </a:br>
            <a:r>
              <a:rPr lang="en-IN" sz="3200" dirty="0"/>
              <a:t>Course name- Data Visualization 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069BD300-7A70-B076-3B4C-43081E893162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8C1854F2-9914-C22F-FF0B-693CD1D0F966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AE4248D-C4F8-5CB4-776E-FCE1C56D37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157" y="1449606"/>
            <a:ext cx="6818857" cy="4824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802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88C20CF-C1EE-4092-B52D-FD4AB2AB2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316492" y="2971892"/>
            <a:ext cx="11340000" cy="700114"/>
          </a:xfrm>
          <a:prstGeom prst="rect">
            <a:avLst/>
          </a:prstGeom>
        </p:spPr>
        <p:txBody>
          <a:bodyPr anchor="ctr">
            <a:normAutofit fontScale="90000"/>
          </a:bodyPr>
          <a:lstStyle/>
          <a:p>
            <a:pPr algn="ctr"/>
            <a:r>
              <a:rPr lang="en-US" sz="4800" b="1" dirty="0">
                <a:solidFill>
                  <a:schemeClr val="tx1"/>
                </a:solidFill>
              </a:rPr>
              <a:t>Thank you</a:t>
            </a:r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97AB1F14-3A1E-4057-A473-9975BA59F01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27865" y="4641925"/>
            <a:ext cx="2139695" cy="1108635"/>
          </a:xfrm>
        </p:spPr>
        <p:txBody>
          <a:bodyPr>
            <a:normAutofit/>
          </a:bodyPr>
          <a:lstStyle/>
          <a:p>
            <a:r>
              <a:rPr lang="en-US" dirty="0"/>
              <a:t>.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E212CE24-374D-44D0-8F39-0F5A36E42ED7}"/>
              </a:ext>
            </a:extLst>
          </p:cNvPr>
          <p:cNvSpPr txBox="1">
            <a:spLocks/>
          </p:cNvSpPr>
          <p:nvPr/>
        </p:nvSpPr>
        <p:spPr>
          <a:xfrm>
            <a:off x="878337" y="4134780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400" dirty="0"/>
          </a:p>
        </p:txBody>
      </p:sp>
      <p:sp>
        <p:nvSpPr>
          <p:cNvPr id="20" name="Text Placeholder 28">
            <a:extLst>
              <a:ext uri="{FF2B5EF4-FFF2-40B4-BE49-F238E27FC236}">
                <a16:creationId xmlns:a16="http://schemas.microsoft.com/office/drawing/2014/main" id="{A09A5BC1-0E62-4E6B-A590-951A87D4B4FE}"/>
              </a:ext>
            </a:extLst>
          </p:cNvPr>
          <p:cNvSpPr txBox="1">
            <a:spLocks/>
          </p:cNvSpPr>
          <p:nvPr/>
        </p:nvSpPr>
        <p:spPr>
          <a:xfrm>
            <a:off x="5353508" y="3962573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23" name="Text Placeholder 28">
            <a:extLst>
              <a:ext uri="{FF2B5EF4-FFF2-40B4-BE49-F238E27FC236}">
                <a16:creationId xmlns:a16="http://schemas.microsoft.com/office/drawing/2014/main" id="{9E6B148F-F3B6-4E6B-9B85-645C039858E8}"/>
              </a:ext>
            </a:extLst>
          </p:cNvPr>
          <p:cNvSpPr txBox="1">
            <a:spLocks/>
          </p:cNvSpPr>
          <p:nvPr/>
        </p:nvSpPr>
        <p:spPr>
          <a:xfrm>
            <a:off x="7789163" y="3962572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30" name="Text Placeholder 30">
            <a:extLst>
              <a:ext uri="{FF2B5EF4-FFF2-40B4-BE49-F238E27FC236}">
                <a16:creationId xmlns:a16="http://schemas.microsoft.com/office/drawing/2014/main" id="{D3BF02F6-2753-476A-8046-A85AE3A49748}"/>
              </a:ext>
            </a:extLst>
          </p:cNvPr>
          <p:cNvSpPr txBox="1">
            <a:spLocks/>
          </p:cNvSpPr>
          <p:nvPr/>
        </p:nvSpPr>
        <p:spPr>
          <a:xfrm>
            <a:off x="6096000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sp>
        <p:nvSpPr>
          <p:cNvPr id="32" name="Text Placeholder 30">
            <a:extLst>
              <a:ext uri="{FF2B5EF4-FFF2-40B4-BE49-F238E27FC236}">
                <a16:creationId xmlns:a16="http://schemas.microsoft.com/office/drawing/2014/main" id="{B993AB29-3A3A-4473-8AC8-86E859C97321}"/>
              </a:ext>
            </a:extLst>
          </p:cNvPr>
          <p:cNvSpPr txBox="1">
            <a:spLocks/>
          </p:cNvSpPr>
          <p:nvPr/>
        </p:nvSpPr>
        <p:spPr>
          <a:xfrm>
            <a:off x="8591363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D3F9E86-2FB3-4DB3-9343-59D594F350A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1748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4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1" grpId="0" build="p"/>
      <p:bldP spid="17" grpId="0"/>
      <p:bldP spid="20" grpId="0"/>
      <p:bldP spid="23" grpId="0"/>
      <p:bldP spid="30" grpId="0"/>
      <p:bldP spid="32" grpId="0"/>
    </p:bldLst>
  </p:timing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6e97fa315356fffbdcd9876fe988c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4b8f0def80e6d70ce3def20c90759a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B19EB750-A6DA-4BE8-B87B-FC499FE733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5D99ABA-76CE-4A8E-B5F0-C051B96628DE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DEA9014-ED64-4558-B1E1-D03F0EE32BEB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671</TotalTime>
  <Words>1054</Words>
  <Application>Microsoft Office PowerPoint</Application>
  <PresentationFormat>Widescreen</PresentationFormat>
  <Paragraphs>124</Paragraphs>
  <Slides>17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Aptos</vt:lpstr>
      <vt:lpstr>Arial</vt:lpstr>
      <vt:lpstr>Calibri</vt:lpstr>
      <vt:lpstr>Trebuchet MS</vt:lpstr>
      <vt:lpstr>Wingdings</vt:lpstr>
      <vt:lpstr>Wingdings 3</vt:lpstr>
      <vt:lpstr>Facet</vt:lpstr>
      <vt:lpstr>Seasonal Agriculture Performance Analysis</vt:lpstr>
      <vt:lpstr>PROBLEM  STATEMENT</vt:lpstr>
      <vt:lpstr>Project Description  </vt:lpstr>
      <vt:lpstr>WHO ARE THE END USERS?</vt:lpstr>
      <vt:lpstr>Technology Used</vt:lpstr>
      <vt:lpstr>RESULTS </vt:lpstr>
      <vt:lpstr>RESULTS </vt:lpstr>
      <vt:lpstr>RESULTS </vt:lpstr>
      <vt:lpstr>RESULTS </vt:lpstr>
      <vt:lpstr>RESULTS </vt:lpstr>
      <vt:lpstr>RESULTS </vt:lpstr>
      <vt:lpstr>RESULTS </vt:lpstr>
      <vt:lpstr>RESULTS </vt:lpstr>
      <vt:lpstr>Future scope</vt:lpstr>
      <vt:lpstr>GitHub Link</vt:lpstr>
      <vt:lpstr>VOIS Course completion certificate -  Course name- Data Visualization 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MASKED HUNTERS</dc:title>
  <dc:creator>Venkataswamy</dc:creator>
  <cp:lastModifiedBy>RUKESH SG</cp:lastModifiedBy>
  <cp:revision>100</cp:revision>
  <dcterms:created xsi:type="dcterms:W3CDTF">2021-07-11T13:13:15Z</dcterms:created>
  <dcterms:modified xsi:type="dcterms:W3CDTF">2026-09-04T10:02:50Z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